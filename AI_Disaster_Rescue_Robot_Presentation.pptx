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32720" cy="365760"/>
          </a:xfrm>
          <a:prstGeom prst="rect">
            <a:avLst/>
          </a:prstGeom>
          <a:noFill/>
        </p:spPr>
        <p:txBody>
          <a:bodyPr wrap="none">
            <a:spAutoFit/>
          </a:bodyPr>
          <a:lstStyle/>
          <a:p>
            <a:pPr>
              <a:defRPr sz="1100" b="1">
                <a:solidFill>
                  <a:srgbClr val="00D2FF"/>
                </a:solidFill>
              </a:defRPr>
            </a:pPr>
            <a:r>
              <a:t>AI CASE STUDY PROJECT  |  DEPARTMENT OF COMPUTER SCIENCE AND ENGINEERING  |  VIT VELLORE</a:t>
            </a:r>
          </a:p>
        </p:txBody>
      </p:sp>
      <p:sp>
        <p:nvSpPr>
          <p:cNvPr id="4" name="TextBox 3"/>
          <p:cNvSpPr txBox="1"/>
          <p:nvPr/>
        </p:nvSpPr>
        <p:spPr>
          <a:xfrm>
            <a:off x="914400" y="1051560"/>
            <a:ext cx="10332720" cy="1188720"/>
          </a:xfrm>
          <a:prstGeom prst="rect">
            <a:avLst/>
          </a:prstGeom>
          <a:noFill/>
        </p:spPr>
        <p:txBody>
          <a:bodyPr wrap="square">
            <a:spAutoFit/>
          </a:bodyPr>
          <a:lstStyle/>
          <a:p>
            <a:pPr>
              <a:defRPr sz="2800" b="1">
                <a:solidFill>
                  <a:srgbClr val="F5F8FF"/>
                </a:solidFill>
              </a:defRPr>
            </a:pPr>
            <a:r>
              <a:t>AI DISASTER RESCUE ROBOT USING A*</a:t>
            </a:r>
          </a:p>
          <a:p>
            <a:pPr>
              <a:defRPr sz="2800" b="1">
                <a:solidFill>
                  <a:srgbClr val="F5F8FF"/>
                </a:solidFill>
              </a:defRPr>
            </a:pPr>
            <a:r>
              <a:t>AND MULTI-AGENT PLANNING</a:t>
            </a:r>
          </a:p>
        </p:txBody>
      </p:sp>
      <p:sp>
        <p:nvSpPr>
          <p:cNvPr id="5" name="TextBox 4"/>
          <p:cNvSpPr txBox="1"/>
          <p:nvPr/>
        </p:nvSpPr>
        <p:spPr>
          <a:xfrm>
            <a:off x="914400" y="2331720"/>
            <a:ext cx="10332720" cy="457200"/>
          </a:xfrm>
          <a:prstGeom prst="rect">
            <a:avLst/>
          </a:prstGeom>
          <a:noFill/>
        </p:spPr>
        <p:txBody>
          <a:bodyPr wrap="none">
            <a:spAutoFit/>
          </a:bodyPr>
          <a:lstStyle/>
          <a:p>
            <a:pPr>
              <a:defRPr sz="1300">
                <a:solidFill>
                  <a:srgbClr val="F58C1E"/>
                </a:solidFill>
              </a:defRPr>
            </a:pPr>
            <a:r>
              <a:t>Autonomous Search, Space-Time Coordination, FLIR Thermal Sensing, and Multimodal Biometric Triage in Post-Collapse Ruins</a:t>
            </a:r>
          </a:p>
        </p:txBody>
      </p:sp>
      <p:sp>
        <p:nvSpPr>
          <p:cNvPr id="6" name="Rounded Rectangle 5"/>
          <p:cNvSpPr/>
          <p:nvPr/>
        </p:nvSpPr>
        <p:spPr>
          <a:xfrm>
            <a:off x="914400" y="2971800"/>
            <a:ext cx="10362895" cy="160020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108960"/>
            <a:ext cx="9784080" cy="1325880"/>
          </a:xfrm>
          <a:prstGeom prst="rect">
            <a:avLst/>
          </a:prstGeom>
          <a:noFill/>
        </p:spPr>
        <p:txBody>
          <a:bodyPr wrap="square">
            <a:spAutoFit/>
          </a:bodyPr>
          <a:lstStyle/>
          <a:p>
            <a:pPr>
              <a:defRPr sz="1300" b="1">
                <a:solidFill>
                  <a:srgbClr val="00D2FF"/>
                </a:solidFill>
              </a:defRPr>
            </a:pPr>
            <a:r>
              <a:t>PROBLEM STATEMENT:</a:t>
            </a:r>
          </a:p>
          <a:p>
            <a:pPr>
              <a:defRPr sz="1150">
                <a:solidFill>
                  <a:srgbClr val="F5F8FF"/>
                </a:solidFill>
              </a:defRPr>
            </a:pPr>
            <a:r>
              <a:t>During major structural disasters (earthquakes, explosions), finding trapped survivors within the critical 'Golden 72 Hours' poses mortal risk to human rescuers. Manual rescue operations are impeded by hazardous rubble, unstable voids, and toxic gas leaks. Uncoordinated robotic teams suffer from corridor contention, vertex collisions, and deadlocks in narrow passages. This project implements an intelligent multi-agent platform utilizing the A* algorithm, 3D Space-Time Reservation Tables, aerial drone reconnaissance, and multimodal AI triage for rapid, zero-collision autonomous victim extraction.</a:t>
            </a:r>
          </a:p>
        </p:txBody>
      </p:sp>
      <p:sp>
        <p:nvSpPr>
          <p:cNvPr id="8" name="Rounded Rectangle 7"/>
          <p:cNvSpPr/>
          <p:nvPr/>
        </p:nvSpPr>
        <p:spPr>
          <a:xfrm>
            <a:off x="914400" y="4709160"/>
            <a:ext cx="10362895" cy="1417320"/>
          </a:xfrm>
          <a:prstGeom prst="roundRect">
            <a:avLst/>
          </a:prstGeom>
          <a:solidFill>
            <a:srgbClr val="161C2A"/>
          </a:solidFill>
          <a:ln>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846320"/>
            <a:ext cx="9784080" cy="1143000"/>
          </a:xfrm>
          <a:prstGeom prst="rect">
            <a:avLst/>
          </a:prstGeom>
          <a:noFill/>
        </p:spPr>
        <p:txBody>
          <a:bodyPr wrap="square">
            <a:spAutoFit/>
          </a:bodyPr>
          <a:lstStyle/>
          <a:p>
            <a:pPr>
              <a:defRPr sz="1200" b="1">
                <a:solidFill>
                  <a:srgbClr val="F58C1E"/>
                </a:solidFill>
              </a:defRPr>
            </a:pPr>
            <a:r>
              <a:t>PRESENTED BY:</a:t>
            </a:r>
          </a:p>
          <a:p>
            <a:pPr>
              <a:defRPr sz="1400" b="1">
                <a:solidFill>
                  <a:srgbClr val="F5F8FF"/>
                </a:solidFill>
              </a:defRPr>
            </a:pPr>
            <a:r>
              <a:t>1. Thondepu Siva Sethamanyu  -  Register Number: 24BCE0083</a:t>
            </a:r>
            <a:br/>
            <a:r>
              <a:t>2. Haritha  -  Register Number: 24BCE0412</a:t>
            </a:r>
          </a:p>
          <a:p>
            <a:pPr>
              <a:defRPr sz="1100">
                <a:solidFill>
                  <a:srgbClr val="A0AFC8"/>
                </a:solidFill>
              </a:defRPr>
            </a:pPr>
            <a:r>
              <a:t>Department of Computer Science and Engineering  |  Vellore Institute of Technology (VIT), Vellore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EXECUTIVE OVERVIEW</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 Abstract</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Research Summary &amp; Core Pillars</a:t>
            </a:r>
          </a:p>
        </p:txBody>
      </p:sp>
      <p:sp>
        <p:nvSpPr>
          <p:cNvPr id="9" name="TextBox 8"/>
          <p:cNvSpPr txBox="1"/>
          <p:nvPr/>
        </p:nvSpPr>
        <p:spPr>
          <a:xfrm>
            <a:off x="960120" y="2011680"/>
            <a:ext cx="4754880" cy="4023360"/>
          </a:xfrm>
          <a:prstGeom prst="rect">
            <a:avLst/>
          </a:prstGeom>
          <a:noFill/>
        </p:spPr>
        <p:txBody>
          <a:bodyPr wrap="square">
            <a:spAutoFit/>
          </a:bodyPr>
          <a:lstStyle/>
          <a:p>
            <a:pPr>
              <a:spcAft>
                <a:spcPts val="1200"/>
              </a:spcAft>
            </a:pPr>
            <a:r>
              <a:rPr b="1" sz="1200">
                <a:solidFill>
                  <a:srgbClr val="00D2FF"/>
                </a:solidFill>
              </a:rPr>
              <a:t>• Disaster Rescue Challenge: </a:t>
            </a:r>
            <a:r>
              <a:rPr sz="1200">
                <a:solidFill>
                  <a:srgbClr val="F5F8FF"/>
                </a:solidFill>
              </a:rPr>
              <a:t>Structural collapses trap victims beneath tons of unstable concrete rubble, where time is the decisive survival factor.</a:t>
            </a:r>
          </a:p>
          <a:p>
            <a:pPr>
              <a:spcAft>
                <a:spcPts val="1200"/>
              </a:spcAft>
            </a:pPr>
            <a:r>
              <a:rPr b="1" sz="1200">
                <a:solidFill>
                  <a:srgbClr val="00D2FF"/>
                </a:solidFill>
              </a:rPr>
              <a:t>• A* Navigation Core: </a:t>
            </a:r>
            <a:r>
              <a:rPr sz="1200">
                <a:solidFill>
                  <a:srgbClr val="F5F8FF"/>
                </a:solidFill>
              </a:rPr>
              <a:t>Implements mathematically optimal A* pathfinding with an admissible Manhattan distance heuristic (L1 norm) to discover minimal-cost debris trajectories.</a:t>
            </a:r>
          </a:p>
          <a:p>
            <a:pPr>
              <a:spcAft>
                <a:spcPts val="1200"/>
              </a:spcAft>
            </a:pPr>
            <a:r>
              <a:rPr b="1" sz="1200">
                <a:solidFill>
                  <a:srgbClr val="00D2FF"/>
                </a:solidFill>
              </a:rPr>
              <a:t>• Space-Time Coordination: </a:t>
            </a:r>
            <a:r>
              <a:rPr sz="1200">
                <a:solidFill>
                  <a:srgbClr val="F5F8FF"/>
                </a:solidFill>
              </a:rPr>
              <a:t>Employs a 3D Space-Time Reservation Table (x, y, t) to coordinate multiple robotic agents simultaneously, eliminating vertex and edge-swap collisions.</a:t>
            </a:r>
          </a:p>
          <a:p>
            <a:pPr>
              <a:spcAft>
                <a:spcPts val="1200"/>
              </a:spcAft>
            </a:pPr>
            <a:r>
              <a:rPr b="1" sz="1200">
                <a:solidFill>
                  <a:srgbClr val="00D2FF"/>
                </a:solidFill>
              </a:rPr>
              <a:t>• Multi-Role Swarm: </a:t>
            </a:r>
            <a:r>
              <a:rPr sz="1200">
                <a:solidFill>
                  <a:srgbClr val="F5F8FF"/>
                </a:solidFill>
              </a:rPr>
              <a:t>Integrates heterogeneous robot roles (Scout, Heavy Lifter, Emergency Medic) for specialized task decomposition.</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Multimodal Features &amp; Empirical Outcomes</a:t>
            </a:r>
          </a:p>
        </p:txBody>
      </p:sp>
      <p:sp>
        <p:nvSpPr>
          <p:cNvPr id="12" name="TextBox 11"/>
          <p:cNvSpPr txBox="1"/>
          <p:nvPr/>
        </p:nvSpPr>
        <p:spPr>
          <a:xfrm>
            <a:off x="6446520" y="2011680"/>
            <a:ext cx="4754880" cy="4023360"/>
          </a:xfrm>
          <a:prstGeom prst="rect">
            <a:avLst/>
          </a:prstGeom>
          <a:noFill/>
        </p:spPr>
        <p:txBody>
          <a:bodyPr wrap="square">
            <a:spAutoFit/>
          </a:bodyPr>
          <a:lstStyle/>
          <a:p>
            <a:pPr>
              <a:spcAft>
                <a:spcPts val="1200"/>
              </a:spcAft>
            </a:pPr>
            <a:r>
              <a:rPr b="1" sz="1200">
                <a:solidFill>
                  <a:srgbClr val="F58C1E"/>
                </a:solidFill>
              </a:rPr>
              <a:t>• Aerial Reconnaissance (UAV): </a:t>
            </a:r>
            <a:r>
              <a:rPr sz="1200">
                <a:solidFill>
                  <a:srgbClr val="F5F8FF"/>
                </a:solidFill>
              </a:rPr>
              <a:t>Cruising autonomous drone provides overhead searchlight surveillance and clear corridor scouting.</a:t>
            </a:r>
          </a:p>
          <a:p>
            <a:pPr>
              <a:spcAft>
                <a:spcPts val="1200"/>
              </a:spcAft>
            </a:pPr>
            <a:r>
              <a:rPr b="1" sz="1200">
                <a:solidFill>
                  <a:srgbClr val="F58C1E"/>
                </a:solidFill>
              </a:rPr>
              <a:t>• FLIR Thermal Infrared Vision: </a:t>
            </a:r>
            <a:r>
              <a:rPr sz="1200">
                <a:solidFill>
                  <a:srgbClr val="F5F8FF"/>
                </a:solidFill>
              </a:rPr>
              <a:t>Long-wave IR imaging reveals cold concrete (14°C) vs. glowing human body-heat signatures (37.2°C).</a:t>
            </a:r>
          </a:p>
          <a:p>
            <a:pPr>
              <a:spcAft>
                <a:spcPts val="1200"/>
              </a:spcAft>
            </a:pPr>
            <a:r>
              <a:rPr b="1" sz="1200">
                <a:solidFill>
                  <a:srgbClr val="F58C1E"/>
                </a:solidFill>
              </a:rPr>
              <a:t>• AI Multimodal Triage Scanner: </a:t>
            </a:r>
            <a:r>
              <a:rPr sz="1200">
                <a:solidFill>
                  <a:srgbClr val="F5F8FF"/>
                </a:solidFill>
              </a:rPr>
              <a:t>Extracts live biometrics (EKG waveform, Heart Rate, SpO2, Core Temp) and entrapment depth for clinical priority.</a:t>
            </a:r>
          </a:p>
          <a:p>
            <a:pPr>
              <a:spcAft>
                <a:spcPts val="1200"/>
              </a:spcAft>
            </a:pPr>
            <a:r>
              <a:rPr b="1" sz="1200">
                <a:solidFill>
                  <a:srgbClr val="F58C1E"/>
                </a:solidFill>
              </a:rPr>
              <a:t>• 100% Extraction Success: </a:t>
            </a:r>
            <a:r>
              <a:rPr sz="1200">
                <a:solidFill>
                  <a:srgbClr val="F5F8FF"/>
                </a:solidFill>
              </a:rPr>
              <a:t>Achieved zero collisions across all benchmark scenarios with 85%+ search space pruning and sub-millisecond execution times.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DOMAIN CHALLENGES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2. Problem Statement &amp; Motivation</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333756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880360" cy="365760"/>
          </a:xfrm>
          <a:prstGeom prst="rect">
            <a:avLst/>
          </a:prstGeom>
          <a:noFill/>
        </p:spPr>
        <p:txBody>
          <a:bodyPr wrap="square" lIns="0" tIns="0" rIns="0" bIns="0">
            <a:spAutoFit/>
          </a:bodyPr>
          <a:lstStyle/>
          <a:p>
            <a:pPr>
              <a:defRPr sz="1400" b="1">
                <a:solidFill>
                  <a:srgbClr val="00D2FF"/>
                </a:solidFill>
              </a:defRPr>
            </a:pPr>
            <a:r>
              <a:t>The Critical Survival Window</a:t>
            </a:r>
          </a:p>
        </p:txBody>
      </p:sp>
      <p:sp>
        <p:nvSpPr>
          <p:cNvPr id="9" name="TextBox 8"/>
          <p:cNvSpPr txBox="1"/>
          <p:nvPr/>
        </p:nvSpPr>
        <p:spPr>
          <a:xfrm>
            <a:off x="914400" y="2011680"/>
            <a:ext cx="2971800" cy="3931920"/>
          </a:xfrm>
          <a:prstGeom prst="rect">
            <a:avLst/>
          </a:prstGeom>
          <a:noFill/>
        </p:spPr>
        <p:txBody>
          <a:bodyPr wrap="square">
            <a:spAutoFit/>
          </a:bodyPr>
          <a:lstStyle/>
          <a:p>
            <a:pPr>
              <a:spcAft>
                <a:spcPts val="1400"/>
              </a:spcAft>
            </a:pPr>
            <a:r>
              <a:rPr b="1" sz="1150">
                <a:solidFill>
                  <a:srgbClr val="F04141"/>
                </a:solidFill>
              </a:rPr>
              <a:t>• Golden 72 Hours: </a:t>
            </a:r>
            <a:r>
              <a:rPr sz="1150">
                <a:solidFill>
                  <a:srgbClr val="F5F8FF"/>
                </a:solidFill>
              </a:rPr>
              <a:t>Victim survival drops exponentially after 72 hours due to crush injuries, hypothermia, and asphyxiation.</a:t>
            </a:r>
          </a:p>
          <a:p>
            <a:pPr>
              <a:spcAft>
                <a:spcPts val="1400"/>
              </a:spcAft>
            </a:pPr>
            <a:r>
              <a:rPr b="1" sz="1150">
                <a:solidFill>
                  <a:srgbClr val="F04141"/>
                </a:solidFill>
              </a:rPr>
              <a:t>• Extreme Hazard to Rescuers: </a:t>
            </a:r>
            <a:r>
              <a:rPr sz="1150">
                <a:solidFill>
                  <a:srgbClr val="F5F8FF"/>
                </a:solidFill>
              </a:rPr>
              <a:t>Secondary seismic aftershocks, compromised structural integrity, gas leaks, and live electrical cables.</a:t>
            </a:r>
          </a:p>
          <a:p>
            <a:pPr>
              <a:spcAft>
                <a:spcPts val="1400"/>
              </a:spcAft>
            </a:pPr>
            <a:r>
              <a:rPr b="1" sz="1150">
                <a:solidFill>
                  <a:srgbClr val="F04141"/>
                </a:solidFill>
              </a:rPr>
              <a:t>• Subterranean Voids: </a:t>
            </a:r>
            <a:r>
              <a:rPr sz="1150">
                <a:solidFill>
                  <a:srgbClr val="F5F8FF"/>
                </a:solidFill>
              </a:rPr>
              <a:t>Victims remain trapped in dark, labyrinthine voids inaccessible to heavy conventional rescue machinery.</a:t>
            </a:r>
          </a:p>
        </p:txBody>
      </p:sp>
      <p:sp>
        <p:nvSpPr>
          <p:cNvPr id="10" name="Rounded Rectangle 9"/>
          <p:cNvSpPr/>
          <p:nvPr/>
        </p:nvSpPr>
        <p:spPr>
          <a:xfrm>
            <a:off x="4389120" y="1463040"/>
            <a:ext cx="333756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45920"/>
            <a:ext cx="2880360" cy="365760"/>
          </a:xfrm>
          <a:prstGeom prst="rect">
            <a:avLst/>
          </a:prstGeom>
          <a:noFill/>
        </p:spPr>
        <p:txBody>
          <a:bodyPr wrap="square" lIns="0" tIns="0" rIns="0" bIns="0">
            <a:spAutoFit/>
          </a:bodyPr>
          <a:lstStyle/>
          <a:p>
            <a:pPr>
              <a:defRPr sz="1400" b="1">
                <a:solidFill>
                  <a:srgbClr val="00D2FF"/>
                </a:solidFill>
              </a:defRPr>
            </a:pPr>
            <a:r>
              <a:t>Single-Robot Bottlenecks</a:t>
            </a:r>
          </a:p>
        </p:txBody>
      </p:sp>
      <p:sp>
        <p:nvSpPr>
          <p:cNvPr id="12" name="TextBox 11"/>
          <p:cNvSpPr txBox="1"/>
          <p:nvPr/>
        </p:nvSpPr>
        <p:spPr>
          <a:xfrm>
            <a:off x="4572000" y="2011680"/>
            <a:ext cx="2971800" cy="3931920"/>
          </a:xfrm>
          <a:prstGeom prst="rect">
            <a:avLst/>
          </a:prstGeom>
          <a:noFill/>
        </p:spPr>
        <p:txBody>
          <a:bodyPr wrap="square">
            <a:spAutoFit/>
          </a:bodyPr>
          <a:lstStyle/>
          <a:p>
            <a:pPr>
              <a:spcAft>
                <a:spcPts val="1400"/>
              </a:spcAft>
            </a:pPr>
            <a:r>
              <a:rPr b="1" sz="1150">
                <a:solidFill>
                  <a:srgbClr val="F58C1E"/>
                </a:solidFill>
              </a:rPr>
              <a:t>• Severe Latency: </a:t>
            </a:r>
            <a:r>
              <a:rPr sz="1150">
                <a:solidFill>
                  <a:srgbClr val="F5F8FF"/>
                </a:solidFill>
              </a:rPr>
              <a:t>A single robot exploring expansive collapsed zones sequentially causes fatal rescue delays.</a:t>
            </a:r>
          </a:p>
          <a:p>
            <a:pPr>
              <a:spcAft>
                <a:spcPts val="1400"/>
              </a:spcAft>
            </a:pPr>
            <a:r>
              <a:rPr b="1" sz="1150">
                <a:solidFill>
                  <a:srgbClr val="F58C1E"/>
                </a:solidFill>
              </a:rPr>
              <a:t>• Sensor Occlusion: </a:t>
            </a:r>
            <a:r>
              <a:rPr sz="1150">
                <a:solidFill>
                  <a:srgbClr val="F5F8FF"/>
                </a:solidFill>
              </a:rPr>
              <a:t>Ground debris blinds single rovers; lack of aerial perspective leads to dead-end entrapment.</a:t>
            </a:r>
          </a:p>
          <a:p>
            <a:pPr>
              <a:spcAft>
                <a:spcPts val="1400"/>
              </a:spcAft>
            </a:pPr>
            <a:r>
              <a:rPr b="1" sz="1150">
                <a:solidFill>
                  <a:srgbClr val="F58C1E"/>
                </a:solidFill>
              </a:rPr>
              <a:t>• Single Point of Failure: </a:t>
            </a:r>
            <a:r>
              <a:rPr sz="1150">
                <a:solidFill>
                  <a:srgbClr val="F5F8FF"/>
                </a:solidFill>
              </a:rPr>
              <a:t>Mechanical failure, battery depletion, or debris entrapment terminates the entire mission.</a:t>
            </a:r>
          </a:p>
        </p:txBody>
      </p:sp>
      <p:sp>
        <p:nvSpPr>
          <p:cNvPr id="13" name="Rounded Rectangle 12"/>
          <p:cNvSpPr/>
          <p:nvPr/>
        </p:nvSpPr>
        <p:spPr>
          <a:xfrm>
            <a:off x="8046720" y="1463040"/>
            <a:ext cx="333756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645920"/>
            <a:ext cx="2880360" cy="365760"/>
          </a:xfrm>
          <a:prstGeom prst="rect">
            <a:avLst/>
          </a:prstGeom>
          <a:noFill/>
        </p:spPr>
        <p:txBody>
          <a:bodyPr wrap="square" lIns="0" tIns="0" rIns="0" bIns="0">
            <a:spAutoFit/>
          </a:bodyPr>
          <a:lstStyle/>
          <a:p>
            <a:pPr>
              <a:defRPr sz="1400" b="1">
                <a:solidFill>
                  <a:srgbClr val="00D2FF"/>
                </a:solidFill>
              </a:defRPr>
            </a:pPr>
            <a:r>
              <a:t>Multi-Agent Conflicts</a:t>
            </a:r>
          </a:p>
        </p:txBody>
      </p:sp>
      <p:sp>
        <p:nvSpPr>
          <p:cNvPr id="15" name="TextBox 14"/>
          <p:cNvSpPr txBox="1"/>
          <p:nvPr/>
        </p:nvSpPr>
        <p:spPr>
          <a:xfrm>
            <a:off x="8229600" y="2011680"/>
            <a:ext cx="2971800" cy="3931920"/>
          </a:xfrm>
          <a:prstGeom prst="rect">
            <a:avLst/>
          </a:prstGeom>
          <a:noFill/>
        </p:spPr>
        <p:txBody>
          <a:bodyPr wrap="square">
            <a:spAutoFit/>
          </a:bodyPr>
          <a:lstStyle/>
          <a:p>
            <a:pPr>
              <a:spcAft>
                <a:spcPts val="1400"/>
              </a:spcAft>
            </a:pPr>
            <a:r>
              <a:rPr b="1" sz="1150">
                <a:solidFill>
                  <a:srgbClr val="00D2FF"/>
                </a:solidFill>
              </a:rPr>
              <a:t>• Vertex Collisions: </a:t>
            </a:r>
            <a:r>
              <a:rPr sz="1150">
                <a:solidFill>
                  <a:srgbClr val="F5F8FF"/>
                </a:solidFill>
              </a:rPr>
              <a:t>Multiple robots attempt to occupy the exact same spatial grid cell at the same time step.</a:t>
            </a:r>
          </a:p>
          <a:p>
            <a:pPr>
              <a:spcAft>
                <a:spcPts val="1400"/>
              </a:spcAft>
            </a:pPr>
            <a:r>
              <a:rPr b="1" sz="1150">
                <a:solidFill>
                  <a:srgbClr val="00D2FF"/>
                </a:solidFill>
              </a:rPr>
              <a:t>• Edge-Swap Deadlocks: </a:t>
            </a:r>
            <a:r>
              <a:rPr sz="1150">
                <a:solidFill>
                  <a:srgbClr val="F5F8FF"/>
                </a:solidFill>
              </a:rPr>
              <a:t>Two robots attempt to traverse the same 1-cell narrow corridor in opposing directions simultaneously.</a:t>
            </a:r>
          </a:p>
          <a:p>
            <a:pPr>
              <a:spcAft>
                <a:spcPts val="1400"/>
              </a:spcAft>
            </a:pPr>
            <a:r>
              <a:rPr b="1" sz="1150">
                <a:solidFill>
                  <a:srgbClr val="00D2FF"/>
                </a:solidFill>
              </a:rPr>
              <a:t>• Corridor Contention: </a:t>
            </a:r>
            <a:r>
              <a:rPr sz="1150">
                <a:solidFill>
                  <a:srgbClr val="F5F8FF"/>
                </a:solidFill>
              </a:rPr>
              <a:t>Without centralized reservation, robots obstruct each other, causing systemic mission paralysis.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PROJECT GOALS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3. Objectives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1. Optimal Pathfinding Core</a:t>
            </a:r>
          </a:p>
        </p:txBody>
      </p:sp>
      <p:sp>
        <p:nvSpPr>
          <p:cNvPr id="9" name="TextBox 8"/>
          <p:cNvSpPr txBox="1"/>
          <p:nvPr/>
        </p:nvSpPr>
        <p:spPr>
          <a:xfrm>
            <a:off x="960120" y="2103120"/>
            <a:ext cx="4754880" cy="1463039"/>
          </a:xfrm>
          <a:prstGeom prst="rect">
            <a:avLst/>
          </a:prstGeom>
          <a:noFill/>
        </p:spPr>
        <p:txBody>
          <a:bodyPr wrap="square">
            <a:spAutoFit/>
          </a:bodyPr>
          <a:lstStyle/>
          <a:p>
            <a:pPr>
              <a:defRPr sz="1200">
                <a:solidFill>
                  <a:srgbClr val="F5F8FF"/>
                </a:solidFill>
              </a:defRPr>
            </a:pPr>
            <a:r>
              <a:t>Implement the A* Search Algorithm with an admissible Manhattan Distance heuristic, guaranteeing mathematically minimal path costs while routing around complex rubble.</a:t>
            </a:r>
          </a:p>
        </p:txBody>
      </p:sp>
      <p:sp>
        <p:nvSpPr>
          <p:cNvPr id="10" name="Rounded Rectangle 9"/>
          <p:cNvSpPr/>
          <p:nvPr/>
        </p:nvSpPr>
        <p:spPr>
          <a:xfrm>
            <a:off x="6217920" y="1463040"/>
            <a:ext cx="5242255"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2. Space-Time Collision Prevention</a:t>
            </a:r>
          </a:p>
        </p:txBody>
      </p:sp>
      <p:sp>
        <p:nvSpPr>
          <p:cNvPr id="12" name="TextBox 11"/>
          <p:cNvSpPr txBox="1"/>
          <p:nvPr/>
        </p:nvSpPr>
        <p:spPr>
          <a:xfrm>
            <a:off x="6446520" y="2103120"/>
            <a:ext cx="4785055" cy="1463039"/>
          </a:xfrm>
          <a:prstGeom prst="rect">
            <a:avLst/>
          </a:prstGeom>
          <a:noFill/>
        </p:spPr>
        <p:txBody>
          <a:bodyPr wrap="square">
            <a:spAutoFit/>
          </a:bodyPr>
          <a:lstStyle/>
          <a:p>
            <a:pPr>
              <a:defRPr sz="1200">
                <a:solidFill>
                  <a:srgbClr val="F5F8FF"/>
                </a:solidFill>
              </a:defRPr>
            </a:pPr>
            <a:r>
              <a:t>Develop a 3D Space-Time Reservation Table (x, y, t) eliminating both vertex collisions and edge-swap deadlocks across multiple autonomous agents.</a:t>
            </a:r>
          </a:p>
        </p:txBody>
      </p:sp>
      <p:sp>
        <p:nvSpPr>
          <p:cNvPr id="13" name="Rounded Rectangle 12"/>
          <p:cNvSpPr/>
          <p:nvPr/>
        </p:nvSpPr>
        <p:spPr>
          <a:xfrm>
            <a:off x="731520" y="3931920"/>
            <a:ext cx="521208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114800"/>
            <a:ext cx="4754880" cy="365760"/>
          </a:xfrm>
          <a:prstGeom prst="rect">
            <a:avLst/>
          </a:prstGeom>
          <a:noFill/>
        </p:spPr>
        <p:txBody>
          <a:bodyPr wrap="square" lIns="0" tIns="0" rIns="0" bIns="0">
            <a:spAutoFit/>
          </a:bodyPr>
          <a:lstStyle/>
          <a:p>
            <a:pPr>
              <a:defRPr sz="1400" b="1">
                <a:solidFill>
                  <a:srgbClr val="00D2FF"/>
                </a:solidFill>
              </a:defRPr>
            </a:pPr>
            <a:r>
              <a:t>3. Dynamic Aftershock Replanning</a:t>
            </a:r>
          </a:p>
        </p:txBody>
      </p:sp>
      <p:sp>
        <p:nvSpPr>
          <p:cNvPr id="15" name="TextBox 14"/>
          <p:cNvSpPr txBox="1"/>
          <p:nvPr/>
        </p:nvSpPr>
        <p:spPr>
          <a:xfrm>
            <a:off x="960120" y="4572000"/>
            <a:ext cx="4754880" cy="1463039"/>
          </a:xfrm>
          <a:prstGeom prst="rect">
            <a:avLst/>
          </a:prstGeom>
          <a:noFill/>
        </p:spPr>
        <p:txBody>
          <a:bodyPr wrap="square">
            <a:spAutoFit/>
          </a:bodyPr>
          <a:lstStyle/>
          <a:p>
            <a:pPr>
              <a:defRPr sz="1200">
                <a:solidFill>
                  <a:srgbClr val="F5F8FF"/>
                </a:solidFill>
              </a:defRPr>
            </a:pPr>
            <a:r>
              <a:t>Engineer an online reactive replanning engine capable of detecting secondary structural tremors and recalculating safe detours in under 1 millisecond.</a:t>
            </a:r>
          </a:p>
        </p:txBody>
      </p:sp>
      <p:sp>
        <p:nvSpPr>
          <p:cNvPr id="16" name="Rounded Rectangle 15"/>
          <p:cNvSpPr/>
          <p:nvPr/>
        </p:nvSpPr>
        <p:spPr>
          <a:xfrm>
            <a:off x="6217920" y="3931920"/>
            <a:ext cx="5242255"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114800"/>
            <a:ext cx="4785055" cy="365760"/>
          </a:xfrm>
          <a:prstGeom prst="rect">
            <a:avLst/>
          </a:prstGeom>
          <a:noFill/>
        </p:spPr>
        <p:txBody>
          <a:bodyPr wrap="square" lIns="0" tIns="0" rIns="0" bIns="0">
            <a:spAutoFit/>
          </a:bodyPr>
          <a:lstStyle/>
          <a:p>
            <a:pPr>
              <a:defRPr sz="1400" b="1">
                <a:solidFill>
                  <a:srgbClr val="00D2FF"/>
                </a:solidFill>
              </a:defRPr>
            </a:pPr>
            <a:r>
              <a:t>4. Multimodal Triage &amp; Telemetry</a:t>
            </a:r>
          </a:p>
        </p:txBody>
      </p:sp>
      <p:sp>
        <p:nvSpPr>
          <p:cNvPr id="18" name="TextBox 17"/>
          <p:cNvSpPr txBox="1"/>
          <p:nvPr/>
        </p:nvSpPr>
        <p:spPr>
          <a:xfrm>
            <a:off x="6446520" y="4572000"/>
            <a:ext cx="4785055" cy="1463039"/>
          </a:xfrm>
          <a:prstGeom prst="rect">
            <a:avLst/>
          </a:prstGeom>
          <a:noFill/>
        </p:spPr>
        <p:txBody>
          <a:bodyPr wrap="square">
            <a:spAutoFit/>
          </a:bodyPr>
          <a:lstStyle/>
          <a:p>
            <a:pPr>
              <a:defRPr sz="1200">
                <a:solidFill>
                  <a:srgbClr val="F5F8FF"/>
                </a:solidFill>
              </a:defRPr>
            </a:pPr>
            <a:r>
              <a:t>Incorporate aerial UAV reconnaissance, military FLIR thermal infrared vision, and real-time medical triage (EKG, SpO2, core body temp) for remote casualty assessment.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PRACTICAL UTILITY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4. Real-World Applications &amp; Domain Impact</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10728655" cy="105156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10149840" cy="777240"/>
          </a:xfrm>
          <a:prstGeom prst="rect">
            <a:avLst/>
          </a:prstGeom>
          <a:noFill/>
        </p:spPr>
        <p:txBody>
          <a:bodyPr wrap="square">
            <a:spAutoFit/>
          </a:bodyPr>
          <a:lstStyle/>
          <a:p>
            <a:pPr>
              <a:defRPr b="1" sz="1300">
                <a:solidFill>
                  <a:srgbClr val="00D2FF"/>
                </a:solidFill>
              </a:defRPr>
            </a:pPr>
            <a:r>
              <a:t>URBAN SEARCH &amp; RESCUE (USAR)</a:t>
            </a:r>
          </a:p>
          <a:p>
            <a:pPr>
              <a:defRPr sz="1150">
                <a:solidFill>
                  <a:srgbClr val="F5F8FF"/>
                </a:solidFill>
              </a:defRPr>
            </a:pPr>
            <a:r>
              <a:t>Deployment in post-earthquake collapses, bomb blast ruins, and compromised commercial buildings to rapidly extract pinned victims without risking first responders.</a:t>
            </a:r>
          </a:p>
        </p:txBody>
      </p:sp>
      <p:sp>
        <p:nvSpPr>
          <p:cNvPr id="9" name="Rounded Rectangle 8"/>
          <p:cNvSpPr/>
          <p:nvPr/>
        </p:nvSpPr>
        <p:spPr>
          <a:xfrm>
            <a:off x="731520" y="2651760"/>
            <a:ext cx="10728655" cy="1051560"/>
          </a:xfrm>
          <a:prstGeom prst="roundRect">
            <a:avLst/>
          </a:prstGeom>
          <a:solidFill>
            <a:srgbClr val="161C2A"/>
          </a:solidFill>
          <a:ln w="19050">
            <a:solidFill>
              <a:srgbClr val="F58C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88920"/>
            <a:ext cx="10149840" cy="777240"/>
          </a:xfrm>
          <a:prstGeom prst="rect">
            <a:avLst/>
          </a:prstGeom>
          <a:noFill/>
        </p:spPr>
        <p:txBody>
          <a:bodyPr wrap="square">
            <a:spAutoFit/>
          </a:bodyPr>
          <a:lstStyle/>
          <a:p>
            <a:pPr>
              <a:defRPr b="1" sz="1300">
                <a:solidFill>
                  <a:srgbClr val="F58C1E"/>
                </a:solidFill>
              </a:defRPr>
            </a:pPr>
            <a:r>
              <a:t>SUBTERRANEAN MINE DISASTERS</a:t>
            </a:r>
          </a:p>
          <a:p>
            <a:pPr>
              <a:defRPr sz="1150">
                <a:solidFill>
                  <a:srgbClr val="F5F8FF"/>
                </a:solidFill>
              </a:defRPr>
            </a:pPr>
            <a:r>
              <a:t>Navigating collapsed mining shafts, toxic gas pockets, and unmapped underground voids where communication is heavily constrained.</a:t>
            </a:r>
          </a:p>
        </p:txBody>
      </p:sp>
      <p:sp>
        <p:nvSpPr>
          <p:cNvPr id="11" name="Rounded Rectangle 10"/>
          <p:cNvSpPr/>
          <p:nvPr/>
        </p:nvSpPr>
        <p:spPr>
          <a:xfrm>
            <a:off x="731520" y="3840480"/>
            <a:ext cx="10728655" cy="1051560"/>
          </a:xfrm>
          <a:prstGeom prst="roundRect">
            <a:avLst/>
          </a:prstGeom>
          <a:solidFill>
            <a:srgbClr val="161C2A"/>
          </a:solidFill>
          <a:ln w="19050">
            <a:solidFill>
              <a:srgbClr val="F0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77640"/>
            <a:ext cx="10149840" cy="777240"/>
          </a:xfrm>
          <a:prstGeom prst="rect">
            <a:avLst/>
          </a:prstGeom>
          <a:noFill/>
        </p:spPr>
        <p:txBody>
          <a:bodyPr wrap="square">
            <a:spAutoFit/>
          </a:bodyPr>
          <a:lstStyle/>
          <a:p>
            <a:pPr>
              <a:defRPr b="1" sz="1300">
                <a:solidFill>
                  <a:srgbClr val="F04141"/>
                </a:solidFill>
              </a:defRPr>
            </a:pPr>
            <a:r>
              <a:t>PETROCHEMICAL &amp; INDUSTRIAL FIRES</a:t>
            </a:r>
          </a:p>
          <a:p>
            <a:pPr>
              <a:defRPr sz="1150">
                <a:solidFill>
                  <a:srgbClr val="F5F8FF"/>
                </a:solidFill>
              </a:defRPr>
            </a:pPr>
            <a:r>
              <a:t>Evaluating structural stability in hazardous refinery explosions and chemical spills utilizing autonomous FLIR thermal infrared camera telemetry.</a:t>
            </a:r>
          </a:p>
        </p:txBody>
      </p:sp>
      <p:sp>
        <p:nvSpPr>
          <p:cNvPr id="13" name="Rounded Rectangle 12"/>
          <p:cNvSpPr/>
          <p:nvPr/>
        </p:nvSpPr>
        <p:spPr>
          <a:xfrm>
            <a:off x="731520" y="5029200"/>
            <a:ext cx="10728655" cy="1051560"/>
          </a:xfrm>
          <a:prstGeom prst="roundRect">
            <a:avLst/>
          </a:prstGeom>
          <a:solidFill>
            <a:srgbClr val="161C2A"/>
          </a:solidFill>
          <a:ln w="19050">
            <a:solidFill>
              <a:srgbClr val="23C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166360"/>
            <a:ext cx="10149840" cy="777240"/>
          </a:xfrm>
          <a:prstGeom prst="rect">
            <a:avLst/>
          </a:prstGeom>
          <a:noFill/>
        </p:spPr>
        <p:txBody>
          <a:bodyPr wrap="square">
            <a:spAutoFit/>
          </a:bodyPr>
          <a:lstStyle/>
          <a:p>
            <a:pPr>
              <a:defRPr b="1" sz="1300">
                <a:solidFill>
                  <a:srgbClr val="23C86E"/>
                </a:solidFill>
              </a:defRPr>
            </a:pPr>
            <a:r>
              <a:t>FLOOD &amp; CALAMITY INFILTRATION</a:t>
            </a:r>
          </a:p>
          <a:p>
            <a:pPr>
              <a:defRPr sz="1150">
                <a:solidFill>
                  <a:srgbClr val="F5F8FF"/>
                </a:solidFill>
              </a:defRPr>
            </a:pPr>
            <a:r>
              <a:t>Autonomous search in partially submerged rubble zones, landslides, and debris flows to detect trapped survivors via acoustic and thermal sensors.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ARCHITECTURAL BLUEPRINT</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5. System Architecture (5-Layer Framework)</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10728655" cy="86868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72768"/>
            <a:ext cx="10241280" cy="685800"/>
          </a:xfrm>
          <a:prstGeom prst="rect">
            <a:avLst/>
          </a:prstGeom>
          <a:noFill/>
        </p:spPr>
        <p:txBody>
          <a:bodyPr wrap="square">
            <a:spAutoFit/>
          </a:bodyPr>
          <a:lstStyle/>
          <a:p>
            <a:pPr>
              <a:defRPr b="1" sz="1300">
                <a:solidFill>
                  <a:srgbClr val="00D2FF"/>
                </a:solidFill>
              </a:defRPr>
            </a:pPr>
            <a:r>
              <a:t>Layer 1: Sensing &amp; Environment</a:t>
            </a:r>
          </a:p>
          <a:p>
            <a:pPr>
              <a:defRPr sz="1100">
                <a:solidFill>
                  <a:srgbClr val="F5F8FF"/>
                </a:solidFill>
              </a:defRPr>
            </a:pPr>
            <a:r>
              <a:t>18x13 grid environment, static concrete obstacles, dynamic falling rubble, victim distress beacons, and aerial UAV LiDAR feeds.</a:t>
            </a:r>
          </a:p>
        </p:txBody>
      </p:sp>
      <p:sp>
        <p:nvSpPr>
          <p:cNvPr id="9" name="Rounded Rectangle 8"/>
          <p:cNvSpPr/>
          <p:nvPr/>
        </p:nvSpPr>
        <p:spPr>
          <a:xfrm>
            <a:off x="731520" y="2423160"/>
            <a:ext cx="10728655" cy="868680"/>
          </a:xfrm>
          <a:prstGeom prst="roundRect">
            <a:avLst/>
          </a:prstGeom>
          <a:solidFill>
            <a:srgbClr val="161C2A"/>
          </a:solidFill>
          <a:ln w="19050">
            <a:solidFill>
              <a:srgbClr val="288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532888"/>
            <a:ext cx="10241280" cy="685800"/>
          </a:xfrm>
          <a:prstGeom prst="rect">
            <a:avLst/>
          </a:prstGeom>
          <a:noFill/>
        </p:spPr>
        <p:txBody>
          <a:bodyPr wrap="square">
            <a:spAutoFit/>
          </a:bodyPr>
          <a:lstStyle/>
          <a:p>
            <a:pPr>
              <a:defRPr b="1" sz="1300">
                <a:solidFill>
                  <a:srgbClr val="2882FA"/>
                </a:solidFill>
              </a:defRPr>
            </a:pPr>
            <a:r>
              <a:t>Layer 2: AI Planning &amp; Coordination</a:t>
            </a:r>
          </a:p>
          <a:p>
            <a:pPr>
              <a:defRPr sz="1100">
                <a:solidFill>
                  <a:srgbClr val="F5F8FF"/>
                </a:solidFill>
              </a:defRPr>
            </a:pPr>
            <a:r>
              <a:t>Target allocation engine, lead-agent A* pathfinder, 3D Space-Time Reservation Table (x, y, t), and follower Space-Time Cooperative A* planner.</a:t>
            </a:r>
          </a:p>
        </p:txBody>
      </p:sp>
      <p:sp>
        <p:nvSpPr>
          <p:cNvPr id="11" name="Rounded Rectangle 10"/>
          <p:cNvSpPr/>
          <p:nvPr/>
        </p:nvSpPr>
        <p:spPr>
          <a:xfrm>
            <a:off x="731520" y="3383280"/>
            <a:ext cx="10728655" cy="868680"/>
          </a:xfrm>
          <a:prstGeom prst="roundRect">
            <a:avLst/>
          </a:prstGeom>
          <a:solidFill>
            <a:srgbClr val="161C2A"/>
          </a:solidFill>
          <a:ln w="19050">
            <a:solidFill>
              <a:srgbClr val="23C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493008"/>
            <a:ext cx="10241280" cy="685800"/>
          </a:xfrm>
          <a:prstGeom prst="rect">
            <a:avLst/>
          </a:prstGeom>
          <a:noFill/>
        </p:spPr>
        <p:txBody>
          <a:bodyPr wrap="square">
            <a:spAutoFit/>
          </a:bodyPr>
          <a:lstStyle/>
          <a:p>
            <a:pPr>
              <a:defRPr b="1" sz="1300">
                <a:solidFill>
                  <a:srgbClr val="23C86E"/>
                </a:solidFill>
              </a:defRPr>
            </a:pPr>
            <a:r>
              <a:t>Layer 3: Execution &amp; Dynamic Safety</a:t>
            </a:r>
          </a:p>
          <a:p>
            <a:pPr>
              <a:defRPr sz="1100">
                <a:solidFill>
                  <a:srgbClr val="F5F8FF"/>
                </a:solidFill>
              </a:defRPr>
            </a:pPr>
            <a:r>
              <a:t>Synchronized discrete ticking, sub-pixel continuous LERP interpolation, runtime dual-check conflict monitors, and online replanning on debris drops.</a:t>
            </a:r>
          </a:p>
        </p:txBody>
      </p:sp>
      <p:sp>
        <p:nvSpPr>
          <p:cNvPr id="13" name="Rounded Rectangle 12"/>
          <p:cNvSpPr/>
          <p:nvPr/>
        </p:nvSpPr>
        <p:spPr>
          <a:xfrm>
            <a:off x="731520" y="4343400"/>
            <a:ext cx="10728655" cy="868680"/>
          </a:xfrm>
          <a:prstGeom prst="roundRect">
            <a:avLst/>
          </a:prstGeom>
          <a:solidFill>
            <a:srgbClr val="161C2A"/>
          </a:solidFill>
          <a:ln w="19050">
            <a:solidFill>
              <a:srgbClr val="F58C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53128"/>
            <a:ext cx="10241280" cy="685800"/>
          </a:xfrm>
          <a:prstGeom prst="rect">
            <a:avLst/>
          </a:prstGeom>
          <a:noFill/>
        </p:spPr>
        <p:txBody>
          <a:bodyPr wrap="square">
            <a:spAutoFit/>
          </a:bodyPr>
          <a:lstStyle/>
          <a:p>
            <a:pPr>
              <a:defRPr b="1" sz="1300">
                <a:solidFill>
                  <a:srgbClr val="F58C1E"/>
                </a:solidFill>
              </a:defRPr>
            </a:pPr>
            <a:r>
              <a:t>Layer 4: High-Fidelity Visualization</a:t>
            </a:r>
          </a:p>
          <a:p>
            <a:pPr>
              <a:defRPr sz="1100">
                <a:solidFill>
                  <a:srgbClr val="F5F8FF"/>
                </a:solidFill>
              </a:defRPr>
            </a:pPr>
            <a:r>
              <a:t>Hardware-accelerated 60 FPS Pygame renderer, 3D fractured concrete, animated survivors, tracked rovers with headlights, and FLIR thermal mode.</a:t>
            </a:r>
          </a:p>
        </p:txBody>
      </p:sp>
      <p:sp>
        <p:nvSpPr>
          <p:cNvPr id="15" name="Rounded Rectangle 14"/>
          <p:cNvSpPr/>
          <p:nvPr/>
        </p:nvSpPr>
        <p:spPr>
          <a:xfrm>
            <a:off x="731520" y="5303520"/>
            <a:ext cx="10728655" cy="868680"/>
          </a:xfrm>
          <a:prstGeom prst="roundRect">
            <a:avLst/>
          </a:prstGeom>
          <a:solidFill>
            <a:srgbClr val="161C2A"/>
          </a:solidFill>
          <a:ln w="19050">
            <a:solidFill>
              <a:srgbClr val="F0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413248"/>
            <a:ext cx="10241280" cy="685800"/>
          </a:xfrm>
          <a:prstGeom prst="rect">
            <a:avLst/>
          </a:prstGeom>
          <a:noFill/>
        </p:spPr>
        <p:txBody>
          <a:bodyPr wrap="square">
            <a:spAutoFit/>
          </a:bodyPr>
          <a:lstStyle/>
          <a:p>
            <a:pPr>
              <a:defRPr b="1" sz="1300">
                <a:solidFill>
                  <a:srgbClr val="F04141"/>
                </a:solidFill>
              </a:defRPr>
            </a:pPr>
            <a:r>
              <a:t>Layer 5: Telemetry &amp; Medical Triage</a:t>
            </a:r>
          </a:p>
          <a:p>
            <a:pPr>
              <a:defRPr sz="1100">
                <a:solidFill>
                  <a:srgbClr val="F5F8FF"/>
                </a:solidFill>
              </a:defRPr>
            </a:pPr>
            <a:r>
              <a:t>Interactive Mission Dashboard, live oscilloscope EKG heartbeat monitor, AI Multimodal Survivor Triage Scanner, and Tactical AI Radio 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SYSTEM PIPELINE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6. Architecture Diagrams &amp; Data Flow</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260604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148840" cy="365760"/>
          </a:xfrm>
          <a:prstGeom prst="rect">
            <a:avLst/>
          </a:prstGeom>
          <a:noFill/>
        </p:spPr>
        <p:txBody>
          <a:bodyPr wrap="square" lIns="0" tIns="0" rIns="0" bIns="0">
            <a:spAutoFit/>
          </a:bodyPr>
          <a:lstStyle/>
          <a:p>
            <a:pPr>
              <a:defRPr sz="1400" b="1">
                <a:solidFill>
                  <a:srgbClr val="00D2FF"/>
                </a:solidFill>
              </a:defRPr>
            </a:pPr>
            <a:r>
              <a:t>1. Perception</a:t>
            </a:r>
          </a:p>
        </p:txBody>
      </p:sp>
      <p:sp>
        <p:nvSpPr>
          <p:cNvPr id="9" name="TextBox 8"/>
          <p:cNvSpPr txBox="1"/>
          <p:nvPr/>
        </p:nvSpPr>
        <p:spPr>
          <a:xfrm>
            <a:off x="868680" y="2057400"/>
            <a:ext cx="2331720" cy="1463040"/>
          </a:xfrm>
          <a:prstGeom prst="rect">
            <a:avLst/>
          </a:prstGeom>
          <a:noFill/>
        </p:spPr>
        <p:txBody>
          <a:bodyPr wrap="square">
            <a:spAutoFit/>
          </a:bodyPr>
          <a:lstStyle/>
          <a:p>
            <a:pPr>
              <a:defRPr sz="1150">
                <a:solidFill>
                  <a:srgbClr val="F5F8FF"/>
                </a:solidFill>
              </a:defRPr>
            </a:pPr>
            <a:r>
              <a:t>LiDAR costmap &amp; victim transponders ingested into 18x13 grid.</a:t>
            </a:r>
          </a:p>
        </p:txBody>
      </p:sp>
      <p:sp>
        <p:nvSpPr>
          <p:cNvPr id="10" name="Rounded Rectangle 9"/>
          <p:cNvSpPr/>
          <p:nvPr/>
        </p:nvSpPr>
        <p:spPr>
          <a:xfrm>
            <a:off x="3429000" y="1463040"/>
            <a:ext cx="260604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45920"/>
            <a:ext cx="2148840" cy="365760"/>
          </a:xfrm>
          <a:prstGeom prst="rect">
            <a:avLst/>
          </a:prstGeom>
          <a:noFill/>
        </p:spPr>
        <p:txBody>
          <a:bodyPr wrap="square" lIns="0" tIns="0" rIns="0" bIns="0">
            <a:spAutoFit/>
          </a:bodyPr>
          <a:lstStyle/>
          <a:p>
            <a:pPr>
              <a:defRPr sz="1400" b="1">
                <a:solidFill>
                  <a:srgbClr val="00D2FF"/>
                </a:solidFill>
              </a:defRPr>
            </a:pPr>
            <a:r>
              <a:t>2. Allocation</a:t>
            </a:r>
          </a:p>
        </p:txBody>
      </p:sp>
      <p:sp>
        <p:nvSpPr>
          <p:cNvPr id="12" name="TextBox 11"/>
          <p:cNvSpPr txBox="1"/>
          <p:nvPr/>
        </p:nvSpPr>
        <p:spPr>
          <a:xfrm>
            <a:off x="3566160" y="2057400"/>
            <a:ext cx="2331720" cy="1463040"/>
          </a:xfrm>
          <a:prstGeom prst="rect">
            <a:avLst/>
          </a:prstGeom>
          <a:noFill/>
        </p:spPr>
        <p:txBody>
          <a:bodyPr wrap="square">
            <a:spAutoFit/>
          </a:bodyPr>
          <a:lstStyle/>
          <a:p>
            <a:pPr>
              <a:defRPr sz="1150">
                <a:solidFill>
                  <a:srgbClr val="F5F8FF"/>
                </a:solidFill>
              </a:defRPr>
            </a:pPr>
            <a:r>
              <a:t>Greedy allocation assigns optimal targets to minimize aggregate Manhattan cost.</a:t>
            </a:r>
          </a:p>
        </p:txBody>
      </p:sp>
      <p:sp>
        <p:nvSpPr>
          <p:cNvPr id="13" name="Rounded Rectangle 12"/>
          <p:cNvSpPr/>
          <p:nvPr/>
        </p:nvSpPr>
        <p:spPr>
          <a:xfrm>
            <a:off x="6126480" y="1463040"/>
            <a:ext cx="260604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645920"/>
            <a:ext cx="2148840" cy="365760"/>
          </a:xfrm>
          <a:prstGeom prst="rect">
            <a:avLst/>
          </a:prstGeom>
          <a:noFill/>
        </p:spPr>
        <p:txBody>
          <a:bodyPr wrap="square" lIns="0" tIns="0" rIns="0" bIns="0">
            <a:spAutoFit/>
          </a:bodyPr>
          <a:lstStyle/>
          <a:p>
            <a:pPr>
              <a:defRPr sz="1400" b="1">
                <a:solidFill>
                  <a:srgbClr val="00D2FF"/>
                </a:solidFill>
              </a:defRPr>
            </a:pPr>
            <a:r>
              <a:t>3. A* Search</a:t>
            </a:r>
          </a:p>
        </p:txBody>
      </p:sp>
      <p:sp>
        <p:nvSpPr>
          <p:cNvPr id="15" name="TextBox 14"/>
          <p:cNvSpPr txBox="1"/>
          <p:nvPr/>
        </p:nvSpPr>
        <p:spPr>
          <a:xfrm>
            <a:off x="6263640" y="2057400"/>
            <a:ext cx="2331720" cy="1463040"/>
          </a:xfrm>
          <a:prstGeom prst="rect">
            <a:avLst/>
          </a:prstGeom>
          <a:noFill/>
        </p:spPr>
        <p:txBody>
          <a:bodyPr wrap="square">
            <a:spAutoFit/>
          </a:bodyPr>
          <a:lstStyle/>
          <a:p>
            <a:pPr>
              <a:defRPr sz="1150">
                <a:solidFill>
                  <a:srgbClr val="F5F8FF"/>
                </a:solidFill>
              </a:defRPr>
            </a:pPr>
            <a:r>
              <a:t>Lead agent computes optimal trajectory using f(n) = g(n) + h(n).</a:t>
            </a:r>
          </a:p>
        </p:txBody>
      </p:sp>
      <p:sp>
        <p:nvSpPr>
          <p:cNvPr id="16" name="Rounded Rectangle 15"/>
          <p:cNvSpPr/>
          <p:nvPr/>
        </p:nvSpPr>
        <p:spPr>
          <a:xfrm>
            <a:off x="8823960" y="1463040"/>
            <a:ext cx="260604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1645920"/>
            <a:ext cx="2148840" cy="365760"/>
          </a:xfrm>
          <a:prstGeom prst="rect">
            <a:avLst/>
          </a:prstGeom>
          <a:noFill/>
        </p:spPr>
        <p:txBody>
          <a:bodyPr wrap="square" lIns="0" tIns="0" rIns="0" bIns="0">
            <a:spAutoFit/>
          </a:bodyPr>
          <a:lstStyle/>
          <a:p>
            <a:pPr>
              <a:defRPr sz="1400" b="1">
                <a:solidFill>
                  <a:srgbClr val="00D2FF"/>
                </a:solidFill>
              </a:defRPr>
            </a:pPr>
            <a:r>
              <a:t>4. Reservation</a:t>
            </a:r>
          </a:p>
        </p:txBody>
      </p:sp>
      <p:sp>
        <p:nvSpPr>
          <p:cNvPr id="18" name="TextBox 17"/>
          <p:cNvSpPr txBox="1"/>
          <p:nvPr/>
        </p:nvSpPr>
        <p:spPr>
          <a:xfrm>
            <a:off x="8961120" y="2057400"/>
            <a:ext cx="2331720" cy="1463040"/>
          </a:xfrm>
          <a:prstGeom prst="rect">
            <a:avLst/>
          </a:prstGeom>
          <a:noFill/>
        </p:spPr>
        <p:txBody>
          <a:bodyPr wrap="square">
            <a:spAutoFit/>
          </a:bodyPr>
          <a:lstStyle/>
          <a:p>
            <a:pPr>
              <a:defRPr sz="1150">
                <a:solidFill>
                  <a:srgbClr val="F5F8FF"/>
                </a:solidFill>
              </a:defRPr>
            </a:pPr>
            <a:r>
              <a:t>Lead agent locks (x, y, t) cells in 3D Space-Time Table.</a:t>
            </a:r>
          </a:p>
        </p:txBody>
      </p:sp>
      <p:sp>
        <p:nvSpPr>
          <p:cNvPr id="19" name="Rounded Rectangle 18"/>
          <p:cNvSpPr/>
          <p:nvPr/>
        </p:nvSpPr>
        <p:spPr>
          <a:xfrm>
            <a:off x="1188720" y="3931920"/>
            <a:ext cx="315468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4114800"/>
            <a:ext cx="2697480" cy="365760"/>
          </a:xfrm>
          <a:prstGeom prst="rect">
            <a:avLst/>
          </a:prstGeom>
          <a:noFill/>
        </p:spPr>
        <p:txBody>
          <a:bodyPr wrap="square" lIns="0" tIns="0" rIns="0" bIns="0">
            <a:spAutoFit/>
          </a:bodyPr>
          <a:lstStyle/>
          <a:p>
            <a:pPr>
              <a:defRPr sz="1400" b="1">
                <a:solidFill>
                  <a:srgbClr val="00D2FF"/>
                </a:solidFill>
              </a:defRPr>
            </a:pPr>
            <a:r>
              <a:t>5. Cooperative Plan</a:t>
            </a:r>
          </a:p>
        </p:txBody>
      </p:sp>
      <p:sp>
        <p:nvSpPr>
          <p:cNvPr id="21" name="TextBox 20"/>
          <p:cNvSpPr txBox="1"/>
          <p:nvPr/>
        </p:nvSpPr>
        <p:spPr>
          <a:xfrm>
            <a:off x="1325880" y="4526280"/>
            <a:ext cx="2880360" cy="1463040"/>
          </a:xfrm>
          <a:prstGeom prst="rect">
            <a:avLst/>
          </a:prstGeom>
          <a:noFill/>
        </p:spPr>
        <p:txBody>
          <a:bodyPr wrap="square">
            <a:spAutoFit/>
          </a:bodyPr>
          <a:lstStyle/>
          <a:p>
            <a:pPr>
              <a:defRPr sz="1150">
                <a:solidFill>
                  <a:srgbClr val="F5F8FF"/>
                </a:solidFill>
              </a:defRPr>
            </a:pPr>
            <a:r>
              <a:t>Follower agents plan paths; insert WAIT actions on conflict.</a:t>
            </a:r>
          </a:p>
        </p:txBody>
      </p:sp>
      <p:sp>
        <p:nvSpPr>
          <p:cNvPr id="22" name="Rounded Rectangle 21"/>
          <p:cNvSpPr/>
          <p:nvPr/>
        </p:nvSpPr>
        <p:spPr>
          <a:xfrm>
            <a:off x="4480560" y="3931920"/>
            <a:ext cx="315468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4114800"/>
            <a:ext cx="2697480" cy="365760"/>
          </a:xfrm>
          <a:prstGeom prst="rect">
            <a:avLst/>
          </a:prstGeom>
          <a:noFill/>
        </p:spPr>
        <p:txBody>
          <a:bodyPr wrap="square" lIns="0" tIns="0" rIns="0" bIns="0">
            <a:spAutoFit/>
          </a:bodyPr>
          <a:lstStyle/>
          <a:p>
            <a:pPr>
              <a:defRPr sz="1400" b="1">
                <a:solidFill>
                  <a:srgbClr val="00D2FF"/>
                </a:solidFill>
              </a:defRPr>
            </a:pPr>
            <a:r>
              <a:t>6. Safety Exec</a:t>
            </a:r>
          </a:p>
        </p:txBody>
      </p:sp>
      <p:sp>
        <p:nvSpPr>
          <p:cNvPr id="24" name="TextBox 23"/>
          <p:cNvSpPr txBox="1"/>
          <p:nvPr/>
        </p:nvSpPr>
        <p:spPr>
          <a:xfrm>
            <a:off x="4617720" y="4526280"/>
            <a:ext cx="2880360" cy="1463040"/>
          </a:xfrm>
          <a:prstGeom prst="rect">
            <a:avLst/>
          </a:prstGeom>
          <a:noFill/>
        </p:spPr>
        <p:txBody>
          <a:bodyPr wrap="square">
            <a:spAutoFit/>
          </a:bodyPr>
          <a:lstStyle/>
          <a:p>
            <a:pPr>
              <a:defRPr sz="1150">
                <a:solidFill>
                  <a:srgbClr val="F5F8FF"/>
                </a:solidFill>
              </a:defRPr>
            </a:pPr>
            <a:r>
              <a:t>Runtime check verifies vertex/swap safety; LERP updates coordinates.</a:t>
            </a:r>
          </a:p>
        </p:txBody>
      </p:sp>
      <p:sp>
        <p:nvSpPr>
          <p:cNvPr id="25" name="Rounded Rectangle 24"/>
          <p:cNvSpPr/>
          <p:nvPr/>
        </p:nvSpPr>
        <p:spPr>
          <a:xfrm>
            <a:off x="7772400" y="3931920"/>
            <a:ext cx="3154680" cy="219456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4114800"/>
            <a:ext cx="2697480" cy="365760"/>
          </a:xfrm>
          <a:prstGeom prst="rect">
            <a:avLst/>
          </a:prstGeom>
          <a:noFill/>
        </p:spPr>
        <p:txBody>
          <a:bodyPr wrap="square" lIns="0" tIns="0" rIns="0" bIns="0">
            <a:spAutoFit/>
          </a:bodyPr>
          <a:lstStyle/>
          <a:p>
            <a:pPr>
              <a:defRPr sz="1400" b="1">
                <a:solidFill>
                  <a:srgbClr val="00D2FF"/>
                </a:solidFill>
              </a:defRPr>
            </a:pPr>
            <a:r>
              <a:t>7. Triage &amp; Comms</a:t>
            </a:r>
          </a:p>
        </p:txBody>
      </p:sp>
      <p:sp>
        <p:nvSpPr>
          <p:cNvPr id="27" name="TextBox 26"/>
          <p:cNvSpPr txBox="1"/>
          <p:nvPr/>
        </p:nvSpPr>
        <p:spPr>
          <a:xfrm>
            <a:off x="7909560" y="4526280"/>
            <a:ext cx="2880360" cy="1463040"/>
          </a:xfrm>
          <a:prstGeom prst="rect">
            <a:avLst/>
          </a:prstGeom>
          <a:noFill/>
        </p:spPr>
        <p:txBody>
          <a:bodyPr wrap="square">
            <a:spAutoFit/>
          </a:bodyPr>
          <a:lstStyle/>
          <a:p>
            <a:pPr>
              <a:defRPr sz="1150">
                <a:solidFill>
                  <a:srgbClr val="F5F8FF"/>
                </a:solidFill>
              </a:defRPr>
            </a:pPr>
            <a:r>
              <a:t>Surveillance drone scans victims; AI triage displays live biometrics.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ARTIFICIAL INTELLIGENCE CORE</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7. AI Algorithms Used &amp; Where/How AI is Deployed</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42255" cy="146304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76495" cy="1188720"/>
          </a:xfrm>
          <a:prstGeom prst="rect">
            <a:avLst/>
          </a:prstGeom>
          <a:noFill/>
        </p:spPr>
        <p:txBody>
          <a:bodyPr wrap="square">
            <a:spAutoFit/>
          </a:bodyPr>
          <a:lstStyle/>
          <a:p>
            <a:pPr>
              <a:defRPr b="1" sz="1250">
                <a:solidFill>
                  <a:srgbClr val="00D2FF"/>
                </a:solidFill>
              </a:defRPr>
            </a:pPr>
            <a:r>
              <a:t>A* Pathfinding &amp; Heuristic Guidance</a:t>
            </a:r>
          </a:p>
          <a:p>
            <a:pPr>
              <a:defRPr sz="1050">
                <a:solidFill>
                  <a:srgbClr val="F5F8FF"/>
                </a:solidFill>
              </a:defRPr>
            </a:pPr>
            <a:r>
              <a:t>WHERE: Individual route calculation for all robots.</a:t>
            </a:r>
            <a:br/>
            <a:r>
              <a:t>HOW: Evaluates f(n) = g(n) + h(n) with Manhattan distance (L1 norm). Ensures admissible, monotonic shortest paths, pruning 85%+ of redundant search nodes.</a:t>
            </a:r>
          </a:p>
        </p:txBody>
      </p:sp>
      <p:sp>
        <p:nvSpPr>
          <p:cNvPr id="9" name="Rounded Rectangle 8"/>
          <p:cNvSpPr/>
          <p:nvPr/>
        </p:nvSpPr>
        <p:spPr>
          <a:xfrm>
            <a:off x="6217920" y="1463040"/>
            <a:ext cx="5242255" cy="1463040"/>
          </a:xfrm>
          <a:prstGeom prst="roundRect">
            <a:avLst/>
          </a:prstGeom>
          <a:solidFill>
            <a:srgbClr val="161C2A"/>
          </a:solidFill>
          <a:ln w="19050">
            <a:solidFill>
              <a:srgbClr val="288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76495" cy="1188720"/>
          </a:xfrm>
          <a:prstGeom prst="rect">
            <a:avLst/>
          </a:prstGeom>
          <a:noFill/>
        </p:spPr>
        <p:txBody>
          <a:bodyPr wrap="square">
            <a:spAutoFit/>
          </a:bodyPr>
          <a:lstStyle/>
          <a:p>
            <a:pPr>
              <a:defRPr b="1" sz="1250">
                <a:solidFill>
                  <a:srgbClr val="2882FA"/>
                </a:solidFill>
              </a:defRPr>
            </a:pPr>
            <a:r>
              <a:t>Multi-Agent Space-Time Reservation</a:t>
            </a:r>
          </a:p>
          <a:p>
            <a:pPr>
              <a:defRPr sz="1050">
                <a:solidFill>
                  <a:srgbClr val="F5F8FF"/>
                </a:solidFill>
              </a:defRPr>
            </a:pPr>
            <a:r>
              <a:t>WHERE: Multi-robot simultaneous corridor navigation.</a:t>
            </a:r>
            <a:br/>
            <a:r>
              <a:t>HOW: Models time as a 3rd dimension (x, y, t). Follower robots treat scheduled paths as dynamic obstacles, automatically inserting WAIT yields or detours to prevent collisions.</a:t>
            </a:r>
          </a:p>
        </p:txBody>
      </p:sp>
      <p:sp>
        <p:nvSpPr>
          <p:cNvPr id="11" name="Rounded Rectangle 10"/>
          <p:cNvSpPr/>
          <p:nvPr/>
        </p:nvSpPr>
        <p:spPr>
          <a:xfrm>
            <a:off x="731520" y="3063240"/>
            <a:ext cx="5242255" cy="1463040"/>
          </a:xfrm>
          <a:prstGeom prst="roundRect">
            <a:avLst/>
          </a:prstGeom>
          <a:solidFill>
            <a:srgbClr val="161C2A"/>
          </a:solidFill>
          <a:ln w="19050">
            <a:solidFill>
              <a:srgbClr val="23C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00400"/>
            <a:ext cx="4876495" cy="1188720"/>
          </a:xfrm>
          <a:prstGeom prst="rect">
            <a:avLst/>
          </a:prstGeom>
          <a:noFill/>
        </p:spPr>
        <p:txBody>
          <a:bodyPr wrap="square">
            <a:spAutoFit/>
          </a:bodyPr>
          <a:lstStyle/>
          <a:p>
            <a:pPr>
              <a:defRPr b="1" sz="1250">
                <a:solidFill>
                  <a:srgbClr val="23C86E"/>
                </a:solidFill>
              </a:defRPr>
            </a:pPr>
            <a:r>
              <a:t>Dynamic Online Replanning Engine</a:t>
            </a:r>
          </a:p>
          <a:p>
            <a:pPr>
              <a:defRPr sz="1050">
                <a:solidFill>
                  <a:srgbClr val="F5F8FF"/>
                </a:solidFill>
              </a:defRPr>
            </a:pPr>
            <a:r>
              <a:t>WHERE: Scenario 4 aftershocks and interactive debris drops.</a:t>
            </a:r>
            <a:br/>
            <a:r>
              <a:t>HOW: When secondary tremors drop rubble, agents detect blocked nodes and recalculate alternate paths from current coordinates in &lt; 0.2 ms with zero mission stalls.</a:t>
            </a:r>
          </a:p>
        </p:txBody>
      </p:sp>
      <p:sp>
        <p:nvSpPr>
          <p:cNvPr id="13" name="Rounded Rectangle 12"/>
          <p:cNvSpPr/>
          <p:nvPr/>
        </p:nvSpPr>
        <p:spPr>
          <a:xfrm>
            <a:off x="6217920" y="3063240"/>
            <a:ext cx="5242255" cy="1463040"/>
          </a:xfrm>
          <a:prstGeom prst="roundRect">
            <a:avLst/>
          </a:prstGeom>
          <a:solidFill>
            <a:srgbClr val="161C2A"/>
          </a:solidFill>
          <a:ln w="19050">
            <a:solidFill>
              <a:srgbClr val="F58C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00400"/>
            <a:ext cx="4876495" cy="1188720"/>
          </a:xfrm>
          <a:prstGeom prst="rect">
            <a:avLst/>
          </a:prstGeom>
          <a:noFill/>
        </p:spPr>
        <p:txBody>
          <a:bodyPr wrap="square">
            <a:spAutoFit/>
          </a:bodyPr>
          <a:lstStyle/>
          <a:p>
            <a:pPr>
              <a:defRPr b="1" sz="1250">
                <a:solidFill>
                  <a:srgbClr val="F58C1E"/>
                </a:solidFill>
              </a:defRPr>
            </a:pPr>
            <a:r>
              <a:t>Multimodal AI Medical Triage</a:t>
            </a:r>
          </a:p>
          <a:p>
            <a:pPr>
              <a:defRPr sz="1050">
                <a:solidFill>
                  <a:srgbClr val="F5F8FF"/>
                </a:solidFill>
              </a:defRPr>
            </a:pPr>
            <a:r>
              <a:t>WHERE: Survivor diagnostic HUD and victim evaluation.</a:t>
            </a:r>
            <a:br/>
            <a:r>
              <a:t>HOW: Autonomous rule-based clinical scoring analyzing Heart Rate, SpO2, Core Body Temp, and entrapment depth, assigning RED/YELLOW triage tags and recommended rescue tools.</a:t>
            </a:r>
          </a:p>
        </p:txBody>
      </p:sp>
      <p:sp>
        <p:nvSpPr>
          <p:cNvPr id="15" name="Rounded Rectangle 14"/>
          <p:cNvSpPr/>
          <p:nvPr/>
        </p:nvSpPr>
        <p:spPr>
          <a:xfrm>
            <a:off x="731520" y="4663440"/>
            <a:ext cx="5242255" cy="1463040"/>
          </a:xfrm>
          <a:prstGeom prst="roundRect">
            <a:avLst/>
          </a:prstGeom>
          <a:solidFill>
            <a:srgbClr val="161C2A"/>
          </a:solidFill>
          <a:ln w="19050">
            <a:solidFill>
              <a:srgbClr val="F0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00600"/>
            <a:ext cx="4876495" cy="1188720"/>
          </a:xfrm>
          <a:prstGeom prst="rect">
            <a:avLst/>
          </a:prstGeom>
          <a:noFill/>
        </p:spPr>
        <p:txBody>
          <a:bodyPr wrap="square">
            <a:spAutoFit/>
          </a:bodyPr>
          <a:lstStyle/>
          <a:p>
            <a:pPr>
              <a:defRPr b="1" sz="1250">
                <a:solidFill>
                  <a:srgbClr val="F04141"/>
                </a:solidFill>
              </a:defRPr>
            </a:pPr>
            <a:r>
              <a:t>Autonomous Aerial Surveillance (UAV)</a:t>
            </a:r>
          </a:p>
          <a:p>
            <a:pPr>
              <a:defRPr sz="1050">
                <a:solidFill>
                  <a:srgbClr val="F5F8FF"/>
                </a:solidFill>
              </a:defRPr>
            </a:pPr>
            <a:r>
              <a:t>WHERE: Continuous overhead disaster reconnaissance.</a:t>
            </a:r>
            <a:br/>
            <a:r>
              <a:t>HOW: Cruising quadcopter sweeps disaster sectors, clears overhead paths, and provides spotlight illumination for ground rovers.</a:t>
            </a:r>
          </a:p>
        </p:txBody>
      </p:sp>
      <p:sp>
        <p:nvSpPr>
          <p:cNvPr id="17" name="Rounded Rectangle 16"/>
          <p:cNvSpPr/>
          <p:nvPr/>
        </p:nvSpPr>
        <p:spPr>
          <a:xfrm>
            <a:off x="6217920" y="4663440"/>
            <a:ext cx="5242255" cy="146304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800600"/>
            <a:ext cx="4876495" cy="1188720"/>
          </a:xfrm>
          <a:prstGeom prst="rect">
            <a:avLst/>
          </a:prstGeom>
          <a:noFill/>
        </p:spPr>
        <p:txBody>
          <a:bodyPr wrap="square">
            <a:spAutoFit/>
          </a:bodyPr>
          <a:lstStyle/>
          <a:p>
            <a:pPr>
              <a:defRPr b="1" sz="1250">
                <a:solidFill>
                  <a:srgbClr val="00D2FF"/>
                </a:solidFill>
              </a:defRPr>
            </a:pPr>
            <a:r>
              <a:t>Tactical AI Radio Dispatch Net</a:t>
            </a:r>
          </a:p>
          <a:p>
            <a:pPr>
              <a:defRPr sz="1050">
                <a:solidFill>
                  <a:srgbClr val="F5F8FF"/>
                </a:solidFill>
              </a:defRPr>
            </a:pPr>
            <a:r>
              <a:t>WHERE: Multi-agent coordination communications.</a:t>
            </a:r>
            <a:br/>
            <a:r>
              <a:t>HOW: Automated messaging protocol broadcasting real-time agent status, seismic alerts, and casualty stabilization updates.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THEORETICAL FOUNDATIONS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8. AI Algorithms: A* Search Formulation &amp; Proofs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Mathematical Formulation</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00D2FF"/>
                </a:solidFill>
              </a:rPr>
              <a:t>• Evaluation Function: </a:t>
            </a:r>
            <a:r>
              <a:rPr sz="1200">
                <a:solidFill>
                  <a:srgbClr val="F5F8FF"/>
                </a:solidFill>
              </a:rPr>
              <a:t>f(n) = g(n) + h(n)</a:t>
            </a:r>
          </a:p>
          <a:p>
            <a:pPr>
              <a:spcAft>
                <a:spcPts val="1200"/>
              </a:spcAft>
            </a:pPr>
            <a:r>
              <a:rPr b="1" sz="1200">
                <a:solidFill>
                  <a:srgbClr val="00D2FF"/>
                </a:solidFill>
              </a:rPr>
              <a:t>• Exact Path Cost g(n): </a:t>
            </a:r>
            <a:r>
              <a:rPr sz="1200">
                <a:solidFill>
                  <a:srgbClr val="F5F8FF"/>
                </a:solidFill>
              </a:rPr>
              <a:t>Accumulated cost from start node to current node n. On orthogonal grid: c(u, v) = 1 for all adjacent open cells.</a:t>
            </a:r>
          </a:p>
          <a:p>
            <a:pPr>
              <a:spcAft>
                <a:spcPts val="1200"/>
              </a:spcAft>
            </a:pPr>
            <a:r>
              <a:rPr b="1" sz="1200">
                <a:solidFill>
                  <a:srgbClr val="00D2FF"/>
                </a:solidFill>
              </a:rPr>
              <a:t>• Manhattan Heuristic h(n): </a:t>
            </a:r>
            <a:r>
              <a:rPr sz="1200">
                <a:solidFill>
                  <a:srgbClr val="F5F8FF"/>
                </a:solidFill>
              </a:rPr>
              <a:t>h(n) = |x_n - x_goal| + |y_n - y_goal| (L1 Norm).</a:t>
            </a:r>
          </a:p>
          <a:p>
            <a:pPr>
              <a:spcAft>
                <a:spcPts val="1200"/>
              </a:spcAft>
            </a:pPr>
            <a:r>
              <a:rPr b="1" sz="1200">
                <a:solidFill>
                  <a:srgbClr val="00D2FF"/>
                </a:solidFill>
              </a:rPr>
              <a:t>• Data Structure: </a:t>
            </a:r>
            <a:r>
              <a:rPr sz="1200">
                <a:solidFill>
                  <a:srgbClr val="F5F8FF"/>
                </a:solidFill>
              </a:rPr>
              <a:t>Min-Heap priority queue (heapq in Python) providing O(log N) state insertion and extraction.</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Proofs of Optimality &amp; Consistency</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000"/>
              </a:spcAft>
            </a:pPr>
            <a:r>
              <a:rPr b="1" sz="1150">
                <a:solidFill>
                  <a:srgbClr val="F58C1E"/>
                </a:solidFill>
              </a:rPr>
              <a:t>• Proof of Admissibility: </a:t>
            </a:r>
            <a:r>
              <a:rPr sz="1150">
                <a:solidFill>
                  <a:srgbClr val="F5F8FF"/>
                </a:solidFill>
              </a:rPr>
              <a:t>A heuristic is admissible if h(n) &lt;= h*(n). In a 4-connected grid without diagonal moves, Manhattan distance is the absolute physical minimum steps needed to reach the goal with zero obstacles. Obstacles only increase path cost. Hence, h(n) &lt;= h*(n) always holds.</a:t>
            </a:r>
          </a:p>
          <a:p>
            <a:pPr>
              <a:spcAft>
                <a:spcPts val="1000"/>
              </a:spcAft>
            </a:pPr>
            <a:r>
              <a:rPr b="1" sz="1150">
                <a:solidFill>
                  <a:srgbClr val="F58C1E"/>
                </a:solidFill>
              </a:rPr>
              <a:t>• Proof of Consistency (Monotonicity): </a:t>
            </a:r>
            <a:r>
              <a:rPr sz="1150">
                <a:solidFill>
                  <a:srgbClr val="F5F8FF"/>
                </a:solidFill>
              </a:rPr>
              <a:t>A heuristic is consistent if h(n) &lt;= c(n, n') + h(n'). Since c(n, n') = 1 for adjacent cells, |h(n) - h(n')| &lt;= 1. By the triangle inequality, h(n) is monotonic. The first time a node is expanded from the priority queue, its g-score is globally optimal.</a:t>
            </a:r>
          </a:p>
          <a:p>
            <a:pPr>
              <a:spcAft>
                <a:spcPts val="1000"/>
              </a:spcAft>
            </a:pPr>
            <a:r>
              <a:rPr b="1" sz="1150">
                <a:solidFill>
                  <a:srgbClr val="F58C1E"/>
                </a:solidFill>
              </a:rPr>
              <a:t>• Search Space Pruning: </a:t>
            </a:r>
            <a:r>
              <a:rPr sz="1150">
                <a:solidFill>
                  <a:srgbClr val="F5F8FF"/>
                </a:solidFill>
              </a:rPr>
              <a:t>The heuristic tightly directs node expansions toward the target, pruning over 85% of redundant nodes compared to Dijkstra.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COLLISION-FREE MULTI-AGENT PLANNING</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9. Space-Time Reservation Table &amp; Conflict Resolution</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Prioritized Planning in 3D (x, y, t)</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00D2FF"/>
                </a:solidFill>
              </a:rPr>
              <a:t>• Hierarchical Priority: </a:t>
            </a:r>
            <a:r>
              <a:rPr sz="1200">
                <a:solidFill>
                  <a:srgbClr val="F5F8FF"/>
                </a:solidFill>
              </a:rPr>
              <a:t>Agents are assigned priority order: Priority(R1) &gt; Priority(R2) &gt; Priority(R3).</a:t>
            </a:r>
          </a:p>
          <a:p>
            <a:pPr>
              <a:spcAft>
                <a:spcPts val="1200"/>
              </a:spcAft>
            </a:pPr>
            <a:r>
              <a:rPr b="1" sz="1200">
                <a:solidFill>
                  <a:srgbClr val="00D2FF"/>
                </a:solidFill>
              </a:rPr>
              <a:t>• 3D Configuration Space: </a:t>
            </a:r>
            <a:r>
              <a:rPr sz="1200">
                <a:solidFill>
                  <a:srgbClr val="F5F8FF"/>
                </a:solidFill>
              </a:rPr>
              <a:t>Search expands across (x, y, t) where t represents discrete time steps.</a:t>
            </a:r>
          </a:p>
          <a:p>
            <a:pPr>
              <a:spcAft>
                <a:spcPts val="1200"/>
              </a:spcAft>
            </a:pPr>
            <a:r>
              <a:rPr b="1" sz="1200">
                <a:solidFill>
                  <a:srgbClr val="00D2FF"/>
                </a:solidFill>
              </a:rPr>
              <a:t>• Vertex Reservation (Rv): </a:t>
            </a:r>
            <a:r>
              <a:rPr sz="1200">
                <a:solidFill>
                  <a:srgbClr val="F5F8FF"/>
                </a:solidFill>
              </a:rPr>
              <a:t>Set of locked tuples (x, y, t). An agent cannot enter (x, y) at time t if already reserved by a higher-priority agent.</a:t>
            </a:r>
          </a:p>
          <a:p>
            <a:pPr>
              <a:spcAft>
                <a:spcPts val="1200"/>
              </a:spcAft>
            </a:pPr>
            <a:r>
              <a:rPr b="1" sz="1200">
                <a:solidFill>
                  <a:srgbClr val="00D2FF"/>
                </a:solidFill>
              </a:rPr>
              <a:t>• Edge Swap Reservation (Re): </a:t>
            </a:r>
            <a:r>
              <a:rPr sz="1200">
                <a:solidFill>
                  <a:srgbClr val="F5F8FF"/>
                </a:solidFill>
              </a:rPr>
              <a:t>Set of directed edge transitions (u, v, t). Prevents two agents from traversing the same edge in opposite directions simultaneously.</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5-Action Space &amp; Runtime Safety Checks</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000"/>
              </a:spcAft>
            </a:pPr>
            <a:r>
              <a:rPr b="1" sz="1150">
                <a:solidFill>
                  <a:srgbClr val="23C86E"/>
                </a:solidFill>
              </a:rPr>
              <a:t>• Expanded Action Space: </a:t>
            </a:r>
            <a:r>
              <a:rPr sz="1150">
                <a:solidFill>
                  <a:srgbClr val="F5F8FF"/>
                </a:solidFill>
              </a:rPr>
              <a:t>Actions = {Up, Down, Left, Right, WAIT(0, 0)}. The WAIT action allows an agent to hold position for 1 turn (cost = 1) until an intersection clears.</a:t>
            </a:r>
          </a:p>
          <a:p>
            <a:pPr>
              <a:spcAft>
                <a:spcPts val="1000"/>
              </a:spcAft>
            </a:pPr>
            <a:r>
              <a:rPr b="1" sz="1150">
                <a:solidFill>
                  <a:srgbClr val="23C86E"/>
                </a:solidFill>
              </a:rPr>
              <a:t>• Deterministic Yielding: </a:t>
            </a:r>
            <a:r>
              <a:rPr sz="1150">
                <a:solidFill>
                  <a:srgbClr val="F5F8FF"/>
                </a:solidFill>
              </a:rPr>
              <a:t>When a conflict is detected at junction (x, y, t), lower-priority agents insert minimal wait steps or calculate a detour corridor.</a:t>
            </a:r>
          </a:p>
          <a:p>
            <a:pPr>
              <a:spcAft>
                <a:spcPts val="1000"/>
              </a:spcAft>
            </a:pPr>
            <a:r>
              <a:rPr b="1" sz="1150">
                <a:solidFill>
                  <a:srgbClr val="23C86E"/>
                </a:solidFill>
              </a:rPr>
              <a:t>• Dual-Check Runtime Monitor: </a:t>
            </a:r>
            <a:r>
              <a:rPr sz="1150">
                <a:solidFill>
                  <a:srgbClr val="F5F8FF"/>
                </a:solidFill>
              </a:rPr>
              <a:t>Before physical actuation at each tick, a secondary runtime safety check verifies: next_1 != next_2 and (next_1 != pos_2 or next_2 != pos_1).</a:t>
            </a:r>
          </a:p>
          <a:p>
            <a:pPr>
              <a:spcAft>
                <a:spcPts val="1000"/>
              </a:spcAft>
            </a:pPr>
            <a:r>
              <a:rPr b="1" sz="1150">
                <a:solidFill>
                  <a:srgbClr val="23C86E"/>
                </a:solidFill>
              </a:rPr>
              <a:t>• Zero Collision Guarantee: </a:t>
            </a:r>
            <a:r>
              <a:rPr sz="1150">
                <a:solidFill>
                  <a:srgbClr val="F5F8FF"/>
                </a:solidFill>
              </a:rPr>
              <a:t>Mathematically eliminates deadlocks and collisions across intersecting debris corridors.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ADVANCED SENSOR FUSION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10. Aerial UAV Reconnaissance &amp; FLIR Thermal Vision</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Tactical Sensing Capabilities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F58C1E"/>
                </a:solidFill>
              </a:rPr>
              <a:t>• Autonomous Aerial UAV (Drone): </a:t>
            </a:r>
            <a:r>
              <a:rPr sz="1200">
                <a:solidFill>
                  <a:srgbClr val="F5F8FF"/>
                </a:solidFill>
              </a:rPr>
              <a:t>High-altitude quadcopter cruising overhead with spinning rotors, navigation strobes, and ground searchlight spotlight to pierce dark corridors.</a:t>
            </a:r>
          </a:p>
          <a:p>
            <a:pPr>
              <a:spcAft>
                <a:spcPts val="1200"/>
              </a:spcAft>
            </a:pPr>
            <a:r>
              <a:rPr b="1" sz="1200">
                <a:solidFill>
                  <a:srgbClr val="F58C1E"/>
                </a:solidFill>
              </a:rPr>
              <a:t>• Military FLIR Thermal Vision ('I' Key): </a:t>
            </a:r>
            <a:r>
              <a:rPr sz="1200">
                <a:solidFill>
                  <a:srgbClr val="F5F8FF"/>
                </a:solidFill>
              </a:rPr>
              <a:t>Simulates long-wave infrared thermal cameras used by SAR teams in zero-visibility smoke and darkness.</a:t>
            </a:r>
          </a:p>
          <a:p>
            <a:pPr>
              <a:spcAft>
                <a:spcPts val="1200"/>
              </a:spcAft>
            </a:pPr>
            <a:r>
              <a:rPr b="1" sz="1200">
                <a:solidFill>
                  <a:srgbClr val="F58C1E"/>
                </a:solidFill>
              </a:rPr>
              <a:t>• Thermal Signatures: </a:t>
            </a:r>
            <a:r>
              <a:rPr sz="1200">
                <a:solidFill>
                  <a:srgbClr val="F5F8FF"/>
                </a:solidFill>
              </a:rPr>
              <a:t>Cold concrete rubble appears deep indigo (14°C), while human survivors glow with vibrant 37.2°C thermal heat signatures and infrared radiating halos.</a:t>
            </a:r>
          </a:p>
          <a:p>
            <a:pPr>
              <a:spcAft>
                <a:spcPts val="1200"/>
              </a:spcAft>
            </a:pPr>
            <a:r>
              <a:rPr b="1" sz="1200">
                <a:solidFill>
                  <a:srgbClr val="F58C1E"/>
                </a:solidFill>
              </a:rPr>
              <a:t>• Robot Engine Signatures: </a:t>
            </a:r>
            <a:r>
              <a:rPr sz="1200">
                <a:solidFill>
                  <a:srgbClr val="F5F8FF"/>
                </a:solidFill>
              </a:rPr>
              <a:t>Robot rover battery and motor compartments radiate warm operational heat, tracking mechanical health.</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FLIR Thermal Vision Live Capture</a:t>
            </a:r>
          </a:p>
        </p:txBody>
      </p:sp>
      <p:pic>
        <p:nvPicPr>
          <p:cNvPr id="12" name="Picture 11" descr="screenshot_thermal.png"/>
          <p:cNvPicPr>
            <a:picLocks noChangeAspect="1"/>
          </p:cNvPicPr>
          <p:nvPr/>
        </p:nvPicPr>
        <p:blipFill>
          <a:blip r:embed="rId2"/>
          <a:stretch>
            <a:fillRect/>
          </a:stretch>
        </p:blipFill>
        <p:spPr>
          <a:xfrm>
            <a:off x="6446520" y="2011680"/>
            <a:ext cx="4754880" cy="3931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AUTONOMOUS CLINICAL ASSESSMENT</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11. AI Multimodal Survivor Triage Scanner</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Biometric Telemetry &amp; Entrapment Analytics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000"/>
              </a:spcAft>
            </a:pPr>
            <a:r>
              <a:rPr b="1" sz="1150">
                <a:solidFill>
                  <a:srgbClr val="00D2FF"/>
                </a:solidFill>
              </a:rPr>
              <a:t>• Live Biometric Telemetry: </a:t>
            </a:r>
            <a:r>
              <a:rPr sz="1150">
                <a:solidFill>
                  <a:srgbClr val="F5F8FF"/>
                </a:solidFill>
              </a:rPr>
              <a:t>Measures Heart Rate (128 BPM tachycardia), Blood Oxygen (91% SpO2), Core Temp (35.4°C mild hypothermia), and Respiration Rate.</a:t>
            </a:r>
          </a:p>
          <a:p>
            <a:pPr>
              <a:spcAft>
                <a:spcPts val="1000"/>
              </a:spcAft>
            </a:pPr>
            <a:r>
              <a:rPr b="1" sz="1150">
                <a:solidFill>
                  <a:srgbClr val="00D2FF"/>
                </a:solidFill>
              </a:rPr>
              <a:t>• Oscilloscope EKG Waveform: </a:t>
            </a:r>
            <a:r>
              <a:rPr sz="1150">
                <a:solidFill>
                  <a:srgbClr val="F5F8FF"/>
                </a:solidFill>
              </a:rPr>
              <a:t>Draws real-time animated sinus rhythm tracking critical patient distress.</a:t>
            </a:r>
          </a:p>
          <a:p>
            <a:pPr>
              <a:spcAft>
                <a:spcPts val="1000"/>
              </a:spcAft>
            </a:pPr>
            <a:r>
              <a:rPr b="1" sz="1150">
                <a:solidFill>
                  <a:srgbClr val="00D2FF"/>
                </a:solidFill>
              </a:rPr>
              <a:t>• Entrapment Load Estimation: </a:t>
            </a:r>
            <a:r>
              <a:rPr sz="1150">
                <a:solidFill>
                  <a:srgbClr val="F5F8FF"/>
                </a:solidFill>
              </a:rPr>
              <a:t>Calculates overhead debris weight (1.4m reinforced concrete) and acoustic void tapping.</a:t>
            </a:r>
          </a:p>
          <a:p>
            <a:pPr>
              <a:spcAft>
                <a:spcPts val="1000"/>
              </a:spcAft>
            </a:pPr>
            <a:r>
              <a:rPr b="1" sz="1150">
                <a:solidFill>
                  <a:srgbClr val="00D2FF"/>
                </a:solidFill>
              </a:rPr>
              <a:t>• AI Triage Tag Allocation: </a:t>
            </a:r>
            <a:r>
              <a:rPr sz="1150">
                <a:solidFill>
                  <a:srgbClr val="F5F8FF"/>
                </a:solidFill>
              </a:rPr>
              <a:t>Categorizes casualties into RED TAG (Immediate Extraction), YELLOW TAG (Delayed), or GREEN (Stabilized).</a:t>
            </a:r>
          </a:p>
          <a:p>
            <a:pPr>
              <a:spcAft>
                <a:spcPts val="1000"/>
              </a:spcAft>
            </a:pPr>
            <a:r>
              <a:rPr b="1" sz="1150">
                <a:solidFill>
                  <a:srgbClr val="00D2FF"/>
                </a:solidFill>
              </a:rPr>
              <a:t>• Tool Recommendations: </a:t>
            </a:r>
            <a:r>
              <a:rPr sz="1150">
                <a:solidFill>
                  <a:srgbClr val="F5F8FF"/>
                </a:solidFill>
              </a:rPr>
              <a:t>Suggests appropriate rescue equipment: Hydraulic Jaws, Pneumatic Airbags, or Cervical Immobilizers.</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AI Medical Triage Scanner Modal</a:t>
            </a:r>
          </a:p>
        </p:txBody>
      </p:sp>
      <p:pic>
        <p:nvPicPr>
          <p:cNvPr id="12" name="Picture 11" descr="screenshot_ai_triage.png"/>
          <p:cNvPicPr>
            <a:picLocks noChangeAspect="1"/>
          </p:cNvPicPr>
          <p:nvPr/>
        </p:nvPicPr>
        <p:blipFill>
          <a:blip r:embed="rId2"/>
          <a:stretch>
            <a:fillRect/>
          </a:stretch>
        </p:blipFill>
        <p:spPr>
          <a:xfrm>
            <a:off x="6446520" y="2011680"/>
            <a:ext cx="4754880" cy="3931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PERCEPTION &amp; CONTROL</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12. Inputs &amp; Decision-Making Pipeline</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System Inputs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00D2FF"/>
                </a:solidFill>
              </a:rPr>
              <a:t>• Topological Grid: </a:t>
            </a:r>
            <a:r>
              <a:rPr sz="1200">
                <a:solidFill>
                  <a:srgbClr val="F5F8FF"/>
                </a:solidFill>
              </a:rPr>
              <a:t>18 columns x 13 rows discrete coordinate space (CELL = 40px).</a:t>
            </a:r>
          </a:p>
          <a:p>
            <a:pPr>
              <a:spcAft>
                <a:spcPts val="1200"/>
              </a:spcAft>
            </a:pPr>
            <a:r>
              <a:rPr b="1" sz="1200">
                <a:solidFill>
                  <a:srgbClr val="00D2FF"/>
                </a:solidFill>
              </a:rPr>
              <a:t>• Rubble Costmap: </a:t>
            </a:r>
            <a:r>
              <a:rPr sz="1200">
                <a:solidFill>
                  <a:srgbClr val="F5F8FF"/>
                </a:solidFill>
              </a:rPr>
              <a:t>Binary matrix representing impenetrable structural concrete obstacles.</a:t>
            </a:r>
          </a:p>
          <a:p>
            <a:pPr>
              <a:spcAft>
                <a:spcPts val="1200"/>
              </a:spcAft>
            </a:pPr>
            <a:r>
              <a:rPr b="1" sz="1200">
                <a:solidFill>
                  <a:srgbClr val="00D2FF"/>
                </a:solidFill>
              </a:rPr>
              <a:t>• Victim Coordinates: </a:t>
            </a:r>
            <a:r>
              <a:rPr sz="1200">
                <a:solidFill>
                  <a:srgbClr val="F5F8FF"/>
                </a:solidFill>
              </a:rPr>
              <a:t>Transponder beacons representing pinned civilian locations.</a:t>
            </a:r>
          </a:p>
          <a:p>
            <a:pPr>
              <a:spcAft>
                <a:spcPts val="1200"/>
              </a:spcAft>
            </a:pPr>
            <a:r>
              <a:rPr b="1" sz="1200">
                <a:solidFill>
                  <a:srgbClr val="00D2FF"/>
                </a:solidFill>
              </a:rPr>
              <a:t>• Agent Configuration: </a:t>
            </a:r>
            <a:r>
              <a:rPr sz="1200">
                <a:solidFill>
                  <a:srgbClr val="F5F8FF"/>
                </a:solidFill>
              </a:rPr>
              <a:t>Starting coordinates, movement velocity, and specialized operational roles.</a:t>
            </a:r>
          </a:p>
          <a:p>
            <a:pPr>
              <a:spcAft>
                <a:spcPts val="1200"/>
              </a:spcAft>
            </a:pPr>
            <a:r>
              <a:rPr b="1" sz="1200">
                <a:solidFill>
                  <a:srgbClr val="00D2FF"/>
                </a:solidFill>
              </a:rPr>
              <a:t>• Dynamic Event Sensor: </a:t>
            </a:r>
            <a:r>
              <a:rPr sz="1200">
                <a:solidFill>
                  <a:srgbClr val="F5F8FF"/>
                </a:solidFill>
              </a:rPr>
              <a:t>Seismic tremor triggers dropping aftershock rubble blocks in real time.</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Decision Logic Flow</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200"/>
              </a:spcAft>
            </a:pPr>
            <a:r>
              <a:rPr b="1" sz="1200">
                <a:solidFill>
                  <a:srgbClr val="23C86E"/>
                </a:solidFill>
              </a:rPr>
              <a:t>• Target Allocation: </a:t>
            </a:r>
            <a:r>
              <a:rPr sz="1200">
                <a:solidFill>
                  <a:srgbClr val="F5F8FF"/>
                </a:solidFill>
              </a:rPr>
              <a:t>Computes minimal total Manhattan cost matching robots to unrescued victims.</a:t>
            </a:r>
          </a:p>
          <a:p>
            <a:pPr>
              <a:spcAft>
                <a:spcPts val="1200"/>
              </a:spcAft>
            </a:pPr>
            <a:r>
              <a:rPr b="1" sz="1200">
                <a:solidFill>
                  <a:srgbClr val="23C86E"/>
                </a:solidFill>
              </a:rPr>
              <a:t>• Space-Time Path Search: </a:t>
            </a:r>
            <a:r>
              <a:rPr sz="1200">
                <a:solidFill>
                  <a:srgbClr val="F5F8FF"/>
                </a:solidFill>
              </a:rPr>
              <a:t>Generates collision-free 3D paths using A* and heuristic pruning.</a:t>
            </a:r>
          </a:p>
          <a:p>
            <a:pPr>
              <a:spcAft>
                <a:spcPts val="1200"/>
              </a:spcAft>
            </a:pPr>
            <a:r>
              <a:rPr b="1" sz="1200">
                <a:solidFill>
                  <a:srgbClr val="23C86E"/>
                </a:solidFill>
              </a:rPr>
              <a:t>• Runtime Conflict Validation: </a:t>
            </a:r>
            <a:r>
              <a:rPr sz="1200">
                <a:solidFill>
                  <a:srgbClr val="F5F8FF"/>
                </a:solidFill>
              </a:rPr>
              <a:t>Checks vertex and swap collisions every frame before updating physical coordinates.</a:t>
            </a:r>
          </a:p>
          <a:p>
            <a:pPr>
              <a:spcAft>
                <a:spcPts val="1200"/>
              </a:spcAft>
            </a:pPr>
            <a:r>
              <a:rPr b="1" sz="1200">
                <a:solidFill>
                  <a:srgbClr val="23C86E"/>
                </a:solidFill>
              </a:rPr>
              <a:t>• Yield / Detour Decision: </a:t>
            </a:r>
            <a:r>
              <a:rPr sz="1200">
                <a:solidFill>
                  <a:srgbClr val="F5F8FF"/>
                </a:solidFill>
              </a:rPr>
              <a:t>If junction occupied, agent decides between 1-tick wait vs. alternate detour corridor.</a:t>
            </a:r>
          </a:p>
          <a:p>
            <a:pPr>
              <a:spcAft>
                <a:spcPts val="1200"/>
              </a:spcAft>
            </a:pPr>
            <a:r>
              <a:rPr b="1" sz="1200">
                <a:solidFill>
                  <a:srgbClr val="23C86E"/>
                </a:solidFill>
              </a:rPr>
              <a:t>• Replanning Interrupt: </a:t>
            </a:r>
            <a:r>
              <a:rPr sz="1200">
                <a:solidFill>
                  <a:srgbClr val="F5F8FF"/>
                </a:solidFill>
              </a:rPr>
              <a:t>Dynamic tremor initiates instant online replanning from current robot coordinates in &lt; 0.2 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TECHNICAL STACK</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13. Implementation &amp; Tools Used</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42255" cy="146304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4876495" cy="1188720"/>
          </a:xfrm>
          <a:prstGeom prst="rect">
            <a:avLst/>
          </a:prstGeom>
          <a:noFill/>
        </p:spPr>
        <p:txBody>
          <a:bodyPr wrap="square">
            <a:spAutoFit/>
          </a:bodyPr>
          <a:lstStyle/>
          <a:p>
            <a:pPr>
              <a:defRPr b="1" sz="1300">
                <a:solidFill>
                  <a:srgbClr val="00D2FF"/>
                </a:solidFill>
              </a:defRPr>
            </a:pPr>
            <a:r>
              <a:t>Python 3.12</a:t>
            </a:r>
          </a:p>
          <a:p>
            <a:pPr>
              <a:defRPr sz="1100">
                <a:solidFill>
                  <a:srgbClr val="F5F8FF"/>
                </a:solidFill>
              </a:defRPr>
            </a:pPr>
            <a:r>
              <a:t>Core programming language; high expressiveness, rapid algorithm implementation, robust standard libraries.</a:t>
            </a:r>
          </a:p>
        </p:txBody>
      </p:sp>
      <p:sp>
        <p:nvSpPr>
          <p:cNvPr id="9" name="Rounded Rectangle 8"/>
          <p:cNvSpPr/>
          <p:nvPr/>
        </p:nvSpPr>
        <p:spPr>
          <a:xfrm>
            <a:off x="6217920" y="1463040"/>
            <a:ext cx="5242255" cy="1463040"/>
          </a:xfrm>
          <a:prstGeom prst="roundRect">
            <a:avLst/>
          </a:prstGeom>
          <a:solidFill>
            <a:srgbClr val="161C2A"/>
          </a:solidFill>
          <a:ln w="19050">
            <a:solidFill>
              <a:srgbClr val="288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00200"/>
            <a:ext cx="4876495" cy="1188720"/>
          </a:xfrm>
          <a:prstGeom prst="rect">
            <a:avLst/>
          </a:prstGeom>
          <a:noFill/>
        </p:spPr>
        <p:txBody>
          <a:bodyPr wrap="square">
            <a:spAutoFit/>
          </a:bodyPr>
          <a:lstStyle/>
          <a:p>
            <a:pPr>
              <a:defRPr b="1" sz="1300">
                <a:solidFill>
                  <a:srgbClr val="2882FA"/>
                </a:solidFill>
              </a:defRPr>
            </a:pPr>
            <a:r>
              <a:t>Pygame 2.6.1</a:t>
            </a:r>
          </a:p>
          <a:p>
            <a:pPr>
              <a:defRPr sz="1100">
                <a:solidFill>
                  <a:srgbClr val="F5F8FF"/>
                </a:solidFill>
              </a:defRPr>
            </a:pPr>
            <a:r>
              <a:t>Hardware-accelerated 2D graphics engine rendering 60 FPS sub-pixel continuous interpolation (LERP), particle systems, and UI overlays.</a:t>
            </a:r>
          </a:p>
        </p:txBody>
      </p:sp>
      <p:sp>
        <p:nvSpPr>
          <p:cNvPr id="11" name="Rounded Rectangle 10"/>
          <p:cNvSpPr/>
          <p:nvPr/>
        </p:nvSpPr>
        <p:spPr>
          <a:xfrm>
            <a:off x="731520" y="3063240"/>
            <a:ext cx="5242255" cy="1463040"/>
          </a:xfrm>
          <a:prstGeom prst="roundRect">
            <a:avLst/>
          </a:prstGeom>
          <a:solidFill>
            <a:srgbClr val="161C2A"/>
          </a:solidFill>
          <a:ln w="19050">
            <a:solidFill>
              <a:srgbClr val="F58C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200400"/>
            <a:ext cx="4876495" cy="1188720"/>
          </a:xfrm>
          <a:prstGeom prst="rect">
            <a:avLst/>
          </a:prstGeom>
          <a:noFill/>
        </p:spPr>
        <p:txBody>
          <a:bodyPr wrap="square">
            <a:spAutoFit/>
          </a:bodyPr>
          <a:lstStyle/>
          <a:p>
            <a:pPr>
              <a:defRPr b="1" sz="1300">
                <a:solidFill>
                  <a:srgbClr val="F58C1E"/>
                </a:solidFill>
              </a:defRPr>
            </a:pPr>
            <a:r>
              <a:t>NumPy</a:t>
            </a:r>
          </a:p>
          <a:p>
            <a:pPr>
              <a:defRPr sz="1100">
                <a:solidFill>
                  <a:srgbClr val="F5F8FF"/>
                </a:solidFill>
              </a:defRPr>
            </a:pPr>
            <a:r>
              <a:t>Procedural in-memory sine-wave audio synthesizer generating realistic step clicks, rescue chimes, victory fanfare, and tactical radio chirps.</a:t>
            </a:r>
          </a:p>
        </p:txBody>
      </p:sp>
      <p:sp>
        <p:nvSpPr>
          <p:cNvPr id="13" name="Rounded Rectangle 12"/>
          <p:cNvSpPr/>
          <p:nvPr/>
        </p:nvSpPr>
        <p:spPr>
          <a:xfrm>
            <a:off x="6217920" y="3063240"/>
            <a:ext cx="5242255" cy="1463040"/>
          </a:xfrm>
          <a:prstGeom prst="roundRect">
            <a:avLst/>
          </a:prstGeom>
          <a:solidFill>
            <a:srgbClr val="161C2A"/>
          </a:solidFill>
          <a:ln w="19050">
            <a:solidFill>
              <a:srgbClr val="23C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200400"/>
            <a:ext cx="4876495" cy="1188720"/>
          </a:xfrm>
          <a:prstGeom prst="rect">
            <a:avLst/>
          </a:prstGeom>
          <a:noFill/>
        </p:spPr>
        <p:txBody>
          <a:bodyPr wrap="square">
            <a:spAutoFit/>
          </a:bodyPr>
          <a:lstStyle/>
          <a:p>
            <a:pPr>
              <a:defRPr b="1" sz="1300">
                <a:solidFill>
                  <a:srgbClr val="23C86E"/>
                </a:solidFill>
              </a:defRPr>
            </a:pPr>
            <a:r>
              <a:t>Min-Heap (heapq)</a:t>
            </a:r>
          </a:p>
          <a:p>
            <a:pPr>
              <a:defRPr sz="1100">
                <a:solidFill>
                  <a:srgbClr val="F5F8FF"/>
                </a:solidFill>
              </a:defRPr>
            </a:pPr>
            <a:r>
              <a:t>Priority queue data structure ensuring O(log N) node extraction and insertion for high-speed A* search.</a:t>
            </a:r>
          </a:p>
        </p:txBody>
      </p:sp>
      <p:sp>
        <p:nvSpPr>
          <p:cNvPr id="15" name="Rounded Rectangle 14"/>
          <p:cNvSpPr/>
          <p:nvPr/>
        </p:nvSpPr>
        <p:spPr>
          <a:xfrm>
            <a:off x="731520" y="4663440"/>
            <a:ext cx="5242255" cy="1463040"/>
          </a:xfrm>
          <a:prstGeom prst="roundRect">
            <a:avLst/>
          </a:prstGeom>
          <a:solidFill>
            <a:srgbClr val="161C2A"/>
          </a:solidFill>
          <a:ln w="19050">
            <a:solidFill>
              <a:srgbClr val="F0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00600"/>
            <a:ext cx="4876495" cy="1188720"/>
          </a:xfrm>
          <a:prstGeom prst="rect">
            <a:avLst/>
          </a:prstGeom>
          <a:noFill/>
        </p:spPr>
        <p:txBody>
          <a:bodyPr wrap="square">
            <a:spAutoFit/>
          </a:bodyPr>
          <a:lstStyle/>
          <a:p>
            <a:pPr>
              <a:defRPr b="1" sz="1300">
                <a:solidFill>
                  <a:srgbClr val="F04141"/>
                </a:solidFill>
              </a:defRPr>
            </a:pPr>
            <a:r>
              <a:t>Git &amp; GitHub</a:t>
            </a:r>
          </a:p>
          <a:p>
            <a:pPr>
              <a:defRPr sz="1100">
                <a:solidFill>
                  <a:srgbClr val="F5F8FF"/>
                </a:solidFill>
              </a:defRPr>
            </a:pPr>
            <a:r>
              <a:t>Version control and public repository hosting: https://github.com/SivaSethamanyu/ai-disaster-rescue-robot.</a:t>
            </a:r>
          </a:p>
        </p:txBody>
      </p:sp>
      <p:sp>
        <p:nvSpPr>
          <p:cNvPr id="17" name="Rounded Rectangle 16"/>
          <p:cNvSpPr/>
          <p:nvPr/>
        </p:nvSpPr>
        <p:spPr>
          <a:xfrm>
            <a:off x="6217920" y="4663440"/>
            <a:ext cx="5242255" cy="146304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800600"/>
            <a:ext cx="4876495" cy="1188720"/>
          </a:xfrm>
          <a:prstGeom prst="rect">
            <a:avLst/>
          </a:prstGeom>
          <a:noFill/>
        </p:spPr>
        <p:txBody>
          <a:bodyPr wrap="square">
            <a:spAutoFit/>
          </a:bodyPr>
          <a:lstStyle/>
          <a:p>
            <a:pPr>
              <a:defRPr b="1" sz="1300">
                <a:solidFill>
                  <a:srgbClr val="00D2FF"/>
                </a:solidFill>
              </a:defRPr>
            </a:pPr>
            <a:r>
              <a:t>Windows Batch Scripting</a:t>
            </a:r>
          </a:p>
          <a:p>
            <a:pPr>
              <a:defRPr sz="1100">
                <a:solidFill>
                  <a:srgbClr val="F5F8FF"/>
                </a:solidFill>
              </a:defRPr>
            </a:pPr>
            <a:r>
              <a:t>run_demo.bat for seamless one-click execution without complex environment configuration.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BENCHMARK SCENARIOS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14. Scenario 1: Heavy Debris Collapse (Baseline)</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Scenario Characteristics &amp; Metrics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800"/>
              </a:spcAft>
            </a:pPr>
            <a:r>
              <a:rPr b="1" sz="1150">
                <a:solidFill>
                  <a:srgbClr val="00D2FF"/>
                </a:solidFill>
              </a:rPr>
              <a:t>• Environment: </a:t>
            </a:r>
            <a:r>
              <a:rPr sz="1150">
                <a:solidFill>
                  <a:srgbClr val="F5F8FF"/>
                </a:solidFill>
              </a:rPr>
              <a:t>Reinforced presentation scenario with 37 rubble blocks and heavy structural cross-beams.</a:t>
            </a:r>
          </a:p>
          <a:p>
            <a:pPr>
              <a:spcAft>
                <a:spcPts val="800"/>
              </a:spcAft>
            </a:pPr>
            <a:r>
              <a:rPr b="1" sz="1150">
                <a:solidFill>
                  <a:srgbClr val="00D2FF"/>
                </a:solidFill>
              </a:rPr>
              <a:t>• Robots: </a:t>
            </a:r>
            <a:r>
              <a:rPr sz="1150">
                <a:solidFill>
                  <a:srgbClr val="F5F8FF"/>
                </a:solidFill>
              </a:rPr>
              <a:t>2 Autonomous Ground Rovers (Robot 1: Scout, Robot 2: Lifter).</a:t>
            </a:r>
          </a:p>
          <a:p>
            <a:pPr>
              <a:spcAft>
                <a:spcPts val="800"/>
              </a:spcAft>
            </a:pPr>
            <a:r>
              <a:rPr b="1" sz="1150">
                <a:solidFill>
                  <a:srgbClr val="00D2FF"/>
                </a:solidFill>
              </a:rPr>
              <a:t>• Victims: </a:t>
            </a:r>
            <a:r>
              <a:rPr sz="1150">
                <a:solidFill>
                  <a:srgbClr val="F5F8FF"/>
                </a:solidFill>
              </a:rPr>
              <a:t>2 Civilians pinned at (16, 3) and (16, 9).</a:t>
            </a:r>
          </a:p>
          <a:p>
            <a:pPr>
              <a:spcAft>
                <a:spcPts val="800"/>
              </a:spcAft>
            </a:pPr>
            <a:r>
              <a:rPr b="1" sz="1150">
                <a:solidFill>
                  <a:srgbClr val="00D2FF"/>
                </a:solidFill>
              </a:rPr>
              <a:t>• Nodes Explored: </a:t>
            </a:r>
            <a:r>
              <a:rPr sz="1150">
                <a:solidFill>
                  <a:srgbClr val="F5F8FF"/>
                </a:solidFill>
              </a:rPr>
              <a:t>63 nodes out of 234 total grid cells.</a:t>
            </a:r>
          </a:p>
          <a:p>
            <a:pPr>
              <a:spcAft>
                <a:spcPts val="800"/>
              </a:spcAft>
            </a:pPr>
            <a:r>
              <a:rPr b="1" sz="1150">
                <a:solidFill>
                  <a:srgbClr val="00D2FF"/>
                </a:solidFill>
              </a:rPr>
              <a:t>• Search Space Pruning: </a:t>
            </a:r>
            <a:r>
              <a:rPr sz="1150">
                <a:solidFill>
                  <a:srgbClr val="F5F8FF"/>
                </a:solidFill>
              </a:rPr>
              <a:t>84.2% search reduction compared to uninformed algorithms.</a:t>
            </a:r>
          </a:p>
          <a:p>
            <a:pPr>
              <a:spcAft>
                <a:spcPts val="800"/>
              </a:spcAft>
            </a:pPr>
            <a:r>
              <a:rPr b="1" sz="1150">
                <a:solidFill>
                  <a:srgbClr val="00D2FF"/>
                </a:solidFill>
              </a:rPr>
              <a:t>• Execution Time: </a:t>
            </a:r>
            <a:r>
              <a:rPr sz="1150">
                <a:solidFill>
                  <a:srgbClr val="F5F8FF"/>
                </a:solidFill>
              </a:rPr>
              <a:t>0.52 milliseconds.</a:t>
            </a:r>
          </a:p>
          <a:p>
            <a:pPr>
              <a:spcAft>
                <a:spcPts val="800"/>
              </a:spcAft>
            </a:pPr>
            <a:r>
              <a:rPr b="1" sz="1150">
                <a:solidFill>
                  <a:srgbClr val="00D2FF"/>
                </a:solidFill>
              </a:rPr>
              <a:t>• Outcome: </a:t>
            </a:r>
            <a:r>
              <a:rPr sz="1150">
                <a:solidFill>
                  <a:srgbClr val="F5F8FF"/>
                </a:solidFill>
              </a:rPr>
              <a:t>100% victim extraction with optimal path lengths (17 steps each).</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Scenario 1 Simulation View</a:t>
            </a:r>
          </a:p>
        </p:txBody>
      </p:sp>
      <p:pic>
        <p:nvPicPr>
          <p:cNvPr id="12" name="Picture 11" descr="screenshot_classic.png"/>
          <p:cNvPicPr>
            <a:picLocks noChangeAspect="1"/>
          </p:cNvPicPr>
          <p:nvPr/>
        </p:nvPicPr>
        <p:blipFill>
          <a:blip r:embed="rId2"/>
          <a:stretch>
            <a:fillRect/>
          </a:stretch>
        </p:blipFill>
        <p:spPr>
          <a:xfrm>
            <a:off x="6446520" y="2011680"/>
            <a:ext cx="4754880" cy="3931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BENCHMARK SCENARIOS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15. Scenario 2: High-Conflict Chokepoints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Conflict Resolution Analysis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F58C1E"/>
                </a:solidFill>
              </a:rPr>
              <a:t>• Environment: </a:t>
            </a:r>
            <a:r>
              <a:rPr sz="1200">
                <a:solidFill>
                  <a:srgbClr val="F5F8FF"/>
                </a:solidFill>
              </a:rPr>
              <a:t>56 rubble blocks forming perpendicular constricted corridors intersecting at (8, 6).</a:t>
            </a:r>
          </a:p>
          <a:p>
            <a:pPr>
              <a:spcAft>
                <a:spcPts val="1200"/>
              </a:spcAft>
            </a:pPr>
            <a:r>
              <a:rPr b="1" sz="1200">
                <a:solidFill>
                  <a:srgbClr val="F58C1E"/>
                </a:solidFill>
              </a:rPr>
              <a:t>• Conflict Dilemma: </a:t>
            </a:r>
            <a:r>
              <a:rPr sz="1200">
                <a:solidFill>
                  <a:srgbClr val="F5F8FF"/>
                </a:solidFill>
              </a:rPr>
              <a:t>Robot 1 moves horizontally while Robot 2 moves vertically; uncoordinated planning results in a catastrophic head-on collision at (8, 6).</a:t>
            </a:r>
          </a:p>
          <a:p>
            <a:pPr>
              <a:spcAft>
                <a:spcPts val="1200"/>
              </a:spcAft>
            </a:pPr>
            <a:r>
              <a:rPr b="1" sz="1200">
                <a:solidFill>
                  <a:srgbClr val="F58C1E"/>
                </a:solidFill>
              </a:rPr>
              <a:t>• Space-Time Solution: </a:t>
            </a:r>
            <a:r>
              <a:rPr sz="1200">
                <a:solidFill>
                  <a:srgbClr val="F5F8FF"/>
                </a:solidFill>
              </a:rPr>
              <a:t>The Space-Time Reservation Table detects the vertex collision at step t = 5.</a:t>
            </a:r>
          </a:p>
          <a:p>
            <a:pPr>
              <a:spcAft>
                <a:spcPts val="1200"/>
              </a:spcAft>
            </a:pPr>
            <a:r>
              <a:rPr b="1" sz="1200">
                <a:solidFill>
                  <a:srgbClr val="F58C1E"/>
                </a:solidFill>
              </a:rPr>
              <a:t>• Intentional Yield: </a:t>
            </a:r>
            <a:r>
              <a:rPr sz="1200">
                <a:solidFill>
                  <a:srgbClr val="F5F8FF"/>
                </a:solidFill>
              </a:rPr>
              <a:t>Robot 2 inserts an intentional WAIT action (cost = 1) at safe coordinate (8, 5), allowing Robot 1 to pass freely.</a:t>
            </a:r>
          </a:p>
          <a:p>
            <a:pPr>
              <a:spcAft>
                <a:spcPts val="1200"/>
              </a:spcAft>
            </a:pPr>
            <a:r>
              <a:rPr b="1" sz="1200">
                <a:solidFill>
                  <a:srgbClr val="F58C1E"/>
                </a:solidFill>
              </a:rPr>
              <a:t>• Results: </a:t>
            </a:r>
            <a:r>
              <a:rPr sz="1200">
                <a:solidFill>
                  <a:srgbClr val="F5F8FF"/>
                </a:solidFill>
              </a:rPr>
              <a:t>0 collisions, 1 intentional yield, 91.5% pruning ratio, 0.06 ms planning time.</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Collision Avoidance Diagram</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200"/>
              </a:spcAft>
            </a:pPr>
            <a:r>
              <a:rPr b="1" sz="1200">
                <a:solidFill>
                  <a:srgbClr val="23C86E"/>
                </a:solidFill>
              </a:rPr>
              <a:t>• Tick t = 4: </a:t>
            </a:r>
            <a:r>
              <a:rPr sz="1200">
                <a:solidFill>
                  <a:srgbClr val="F5F8FF"/>
                </a:solidFill>
              </a:rPr>
              <a:t>R1 approaches from (6, 6); R2 approaches from (8, 4).</a:t>
            </a:r>
          </a:p>
          <a:p>
            <a:pPr>
              <a:spcAft>
                <a:spcPts val="1200"/>
              </a:spcAft>
            </a:pPr>
            <a:r>
              <a:rPr b="1" sz="1200">
                <a:solidFill>
                  <a:srgbClr val="23C86E"/>
                </a:solidFill>
              </a:rPr>
              <a:t>• Tick t = 5: </a:t>
            </a:r>
            <a:r>
              <a:rPr sz="1200">
                <a:solidFill>
                  <a:srgbClr val="F5F8FF"/>
                </a:solidFill>
              </a:rPr>
              <a:t>R1 enters junction (8, 6). R2's path demands (8, 6), but space-time reservation blocks it. R2 executes WAIT at (8, 5).</a:t>
            </a:r>
          </a:p>
          <a:p>
            <a:pPr>
              <a:spcAft>
                <a:spcPts val="1200"/>
              </a:spcAft>
            </a:pPr>
            <a:r>
              <a:rPr b="1" sz="1200">
                <a:solidFill>
                  <a:srgbClr val="23C86E"/>
                </a:solidFill>
              </a:rPr>
              <a:t>• Tick t = 6: </a:t>
            </a:r>
            <a:r>
              <a:rPr sz="1200">
                <a:solidFill>
                  <a:srgbClr val="F5F8FF"/>
                </a:solidFill>
              </a:rPr>
              <a:t>R1 clears junction to (10, 6). R2 safely enters (8, 6).</a:t>
            </a:r>
          </a:p>
          <a:p>
            <a:pPr>
              <a:spcAft>
                <a:spcPts val="1200"/>
              </a:spcAft>
            </a:pPr>
            <a:r>
              <a:rPr b="1" sz="1200">
                <a:solidFill>
                  <a:srgbClr val="23C86E"/>
                </a:solidFill>
              </a:rPr>
              <a:t>• Verification: </a:t>
            </a:r>
            <a:r>
              <a:rPr sz="1200">
                <a:solidFill>
                  <a:srgbClr val="F5F8FF"/>
                </a:solidFill>
              </a:rPr>
              <a:t>Vertex and edge-swap constraints strictly satisfied; total collisions: ZERO.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BENCHMARK SCENARIOS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16. Scenario 3: Tri-Agent Dense Ruins (Heterogeneous Swarm)</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Heterogeneous Swarm Architecture</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800"/>
              </a:spcAft>
            </a:pPr>
            <a:r>
              <a:rPr b="1" sz="1150">
                <a:solidFill>
                  <a:srgbClr val="00D2FF"/>
                </a:solidFill>
              </a:rPr>
              <a:t>• Environment: </a:t>
            </a:r>
            <a:r>
              <a:rPr sz="1150">
                <a:solidFill>
                  <a:srgbClr val="F5F8FF"/>
                </a:solidFill>
              </a:rPr>
              <a:t>Collapsed multi-sector structure with 63 rubble blocks and tight 1-cell voids.</a:t>
            </a:r>
          </a:p>
          <a:p>
            <a:pPr>
              <a:spcAft>
                <a:spcPts val="800"/>
              </a:spcAft>
            </a:pPr>
            <a:r>
              <a:rPr b="1" sz="1150">
                <a:solidFill>
                  <a:srgbClr val="00D2FF"/>
                </a:solidFill>
              </a:rPr>
              <a:t>• Swarm Composition: </a:t>
            </a:r>
            <a:r>
              <a:rPr sz="1150">
                <a:solidFill>
                  <a:srgbClr val="F5F8FF"/>
                </a:solidFill>
              </a:rPr>
              <a:t>Three specialized heterogeneous robotic agents:</a:t>
            </a:r>
          </a:p>
          <a:p>
            <a:pPr>
              <a:spcAft>
                <a:spcPts val="800"/>
              </a:spcAft>
            </a:pPr>
            <a:r>
              <a:rPr b="1" sz="1150">
                <a:solidFill>
                  <a:srgbClr val="00D2FF"/>
                </a:solidFill>
              </a:rPr>
              <a:t>• Agent 1 (Scout - Blue): </a:t>
            </a:r>
            <a:r>
              <a:rPr sz="1150">
                <a:solidFill>
                  <a:srgbClr val="F5F8FF"/>
                </a:solidFill>
              </a:rPr>
              <a:t>Fast reconnaissance rover identifying clear infiltration corridors.</a:t>
            </a:r>
          </a:p>
          <a:p>
            <a:pPr>
              <a:spcAft>
                <a:spcPts val="800"/>
              </a:spcAft>
            </a:pPr>
            <a:r>
              <a:rPr b="1" sz="1150">
                <a:solidFill>
                  <a:srgbClr val="00D2FF"/>
                </a:solidFill>
              </a:rPr>
              <a:t>• Agent 2 (Lifter - Orange): </a:t>
            </a:r>
            <a:r>
              <a:rPr sz="1150">
                <a:solidFill>
                  <a:srgbClr val="F5F8FF"/>
                </a:solidFill>
              </a:rPr>
              <a:t>Heavy tracked carrier equipped for structural clearing.</a:t>
            </a:r>
          </a:p>
          <a:p>
            <a:pPr>
              <a:spcAft>
                <a:spcPts val="800"/>
              </a:spcAft>
            </a:pPr>
            <a:r>
              <a:rPr b="1" sz="1150">
                <a:solidFill>
                  <a:srgbClr val="00D2FF"/>
                </a:solidFill>
              </a:rPr>
              <a:t>• Agent 3 (Medic - Emerald): </a:t>
            </a:r>
            <a:r>
              <a:rPr sz="1150">
                <a:solidFill>
                  <a:srgbClr val="F5F8FF"/>
                </a:solidFill>
              </a:rPr>
              <a:t>Rapid-response medical rover transporting life-support payloads.</a:t>
            </a:r>
          </a:p>
          <a:p>
            <a:pPr>
              <a:spcAft>
                <a:spcPts val="800"/>
              </a:spcAft>
            </a:pPr>
            <a:r>
              <a:rPr b="1" sz="1150">
                <a:solidFill>
                  <a:srgbClr val="00D2FF"/>
                </a:solidFill>
              </a:rPr>
              <a:t>• Multi-Target Allocation: </a:t>
            </a:r>
            <a:r>
              <a:rPr sz="1150">
                <a:solidFill>
                  <a:srgbClr val="F5F8FF"/>
                </a:solidFill>
              </a:rPr>
              <a:t>3 distinct victims assigned simultaneously with zero path deadlock.</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Performance Telemetry</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200"/>
              </a:spcAft>
            </a:pPr>
            <a:r>
              <a:rPr b="1" sz="1200">
                <a:solidFill>
                  <a:srgbClr val="23C86E"/>
                </a:solidFill>
              </a:rPr>
              <a:t>• Concurrent Pathing: </a:t>
            </a:r>
            <a:r>
              <a:rPr sz="1200">
                <a:solidFill>
                  <a:srgbClr val="F5F8FF"/>
                </a:solidFill>
              </a:rPr>
              <a:t>Cooperative Space-Time A* plans for all 3 agents simultaneously in 0.87 ms.</a:t>
            </a:r>
          </a:p>
          <a:p>
            <a:pPr>
              <a:spcAft>
                <a:spcPts val="1200"/>
              </a:spcAft>
            </a:pPr>
            <a:r>
              <a:rPr b="1" sz="1200">
                <a:solidFill>
                  <a:srgbClr val="23C86E"/>
                </a:solidFill>
              </a:rPr>
              <a:t>• Search Space Pruning: </a:t>
            </a:r>
            <a:r>
              <a:rPr sz="1200">
                <a:solidFill>
                  <a:srgbClr val="F5F8FF"/>
                </a:solidFill>
              </a:rPr>
              <a:t>79.8% pruning ratio across 3 distinct search trees.</a:t>
            </a:r>
          </a:p>
          <a:p>
            <a:pPr>
              <a:spcAft>
                <a:spcPts val="1200"/>
              </a:spcAft>
            </a:pPr>
            <a:r>
              <a:rPr b="1" sz="1200">
                <a:solidFill>
                  <a:srgbClr val="23C86E"/>
                </a:solidFill>
              </a:rPr>
              <a:t>• Victim Extraction: </a:t>
            </a:r>
            <a:r>
              <a:rPr sz="1200">
                <a:solidFill>
                  <a:srgbClr val="F5F8FF"/>
                </a:solidFill>
              </a:rPr>
              <a:t>3 / 3 (100% mission success).</a:t>
            </a:r>
          </a:p>
          <a:p>
            <a:pPr>
              <a:spcAft>
                <a:spcPts val="1200"/>
              </a:spcAft>
            </a:pPr>
            <a:r>
              <a:rPr b="1" sz="1200">
                <a:solidFill>
                  <a:srgbClr val="23C86E"/>
                </a:solidFill>
              </a:rPr>
              <a:t>• Collision Metrics: </a:t>
            </a:r>
            <a:r>
              <a:rPr sz="1200">
                <a:solidFill>
                  <a:srgbClr val="F5F8FF"/>
                </a:solidFill>
              </a:rPr>
              <a:t>0 vertex conflicts, 0 swap conflicts.</a:t>
            </a:r>
          </a:p>
          <a:p>
            <a:pPr>
              <a:spcAft>
                <a:spcPts val="1200"/>
              </a:spcAft>
            </a:pPr>
            <a:r>
              <a:rPr b="1" sz="1200">
                <a:solidFill>
                  <a:srgbClr val="23C86E"/>
                </a:solidFill>
              </a:rPr>
              <a:t>• Significance: </a:t>
            </a:r>
            <a:r>
              <a:rPr sz="1200">
                <a:solidFill>
                  <a:srgbClr val="F5F8FF"/>
                </a:solidFill>
              </a:rPr>
              <a:t>Proves scalability from dual-agent pairs to multi-role heterogeneous swarms.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BENCHMARK SCENARIOS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17. Scenario 4: Dynamic Tremor Surge &amp; Rubble Collapse</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Seismic Aftershock Simulation</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F58C1E"/>
                </a:solidFill>
              </a:rPr>
              <a:t>• Dynamic Event Trigger: </a:t>
            </a:r>
            <a:r>
              <a:rPr sz="1200">
                <a:solidFill>
                  <a:srgbClr val="F5F8FF"/>
                </a:solidFill>
              </a:rPr>
              <a:t>At step 6, secondary aftershocks trigger structural collapses, dropping 5 new rubble blocks directly into active pathways.</a:t>
            </a:r>
          </a:p>
          <a:p>
            <a:pPr>
              <a:spcAft>
                <a:spcPts val="1200"/>
              </a:spcAft>
            </a:pPr>
            <a:r>
              <a:rPr b="1" sz="1200">
                <a:solidFill>
                  <a:srgbClr val="F58C1E"/>
                </a:solidFill>
              </a:rPr>
              <a:t>• Online Replanning Engine: </a:t>
            </a:r>
            <a:r>
              <a:rPr sz="1200">
                <a:solidFill>
                  <a:srgbClr val="F5F8FF"/>
                </a:solidFill>
              </a:rPr>
              <a:t>Immediate graph mutation triggers replan_from_current_positions(), re-evaluating optimal paths from active rover positions.</a:t>
            </a:r>
          </a:p>
          <a:p>
            <a:pPr>
              <a:spcAft>
                <a:spcPts val="1200"/>
              </a:spcAft>
            </a:pPr>
            <a:r>
              <a:rPr b="1" sz="1200">
                <a:solidFill>
                  <a:srgbClr val="F58C1E"/>
                </a:solidFill>
              </a:rPr>
              <a:t>• Execution Latency: </a:t>
            </a:r>
            <a:r>
              <a:rPr sz="1200">
                <a:solidFill>
                  <a:srgbClr val="F5F8FF"/>
                </a:solidFill>
              </a:rPr>
              <a:t>New collision-free routes calculated in 0.11 ms with zero operational stutter.</a:t>
            </a:r>
          </a:p>
          <a:p>
            <a:pPr>
              <a:spcAft>
                <a:spcPts val="1200"/>
              </a:spcAft>
            </a:pPr>
            <a:r>
              <a:rPr b="1" sz="1200">
                <a:solidFill>
                  <a:srgbClr val="F58C1E"/>
                </a:solidFill>
              </a:rPr>
              <a:t>• Physical Visual Effects: </a:t>
            </a:r>
            <a:r>
              <a:rPr sz="1200">
                <a:solidFill>
                  <a:srgbClr val="F5F8FF"/>
                </a:solidFill>
              </a:rPr>
              <a:t>Camera screen-shake physics and concrete dust explosion particle bursts visually alert operators.</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Interactive Obstacle Injection ('D' Key / Click)</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200"/>
              </a:spcAft>
            </a:pPr>
            <a:r>
              <a:rPr b="1" sz="1200">
                <a:solidFill>
                  <a:srgbClr val="00D2FF"/>
                </a:solidFill>
              </a:rPr>
              <a:t>• Interactive Grid Clicking: </a:t>
            </a:r>
            <a:r>
              <a:rPr sz="1200">
                <a:solidFill>
                  <a:srgbClr val="F5F8FF"/>
                </a:solidFill>
              </a:rPr>
              <a:t>Users can click any open grid cell to drop or remove rubble in real time.</a:t>
            </a:r>
          </a:p>
          <a:p>
            <a:pPr>
              <a:spcAft>
                <a:spcPts val="1200"/>
              </a:spcAft>
            </a:pPr>
            <a:r>
              <a:rPr b="1" sz="1200">
                <a:solidFill>
                  <a:srgbClr val="00D2FF"/>
                </a:solidFill>
              </a:rPr>
              <a:t>• Instant detours: </a:t>
            </a:r>
            <a:r>
              <a:rPr sz="1200">
                <a:solidFill>
                  <a:srgbClr val="F5F8FF"/>
                </a:solidFill>
              </a:rPr>
              <a:t>Robots immediately detect blockage and smoothly reroute through secondary openings.</a:t>
            </a:r>
          </a:p>
          <a:p>
            <a:pPr>
              <a:spcAft>
                <a:spcPts val="1200"/>
              </a:spcAft>
            </a:pPr>
            <a:r>
              <a:rPr b="1" sz="1200">
                <a:solidFill>
                  <a:srgbClr val="00D2FF"/>
                </a:solidFill>
              </a:rPr>
              <a:t>• Multi-Agent Safety Preserved: </a:t>
            </a:r>
            <a:r>
              <a:rPr sz="1200">
                <a:solidFill>
                  <a:srgbClr val="F5F8FF"/>
                </a:solidFill>
              </a:rPr>
              <a:t>Space-time reservation table is refreshed dynamically, maintaining 0 collisions during mid-mission detours.</a:t>
            </a:r>
          </a:p>
          <a:p>
            <a:pPr>
              <a:spcAft>
                <a:spcPts val="1200"/>
              </a:spcAft>
            </a:pPr>
            <a:r>
              <a:rPr b="1" sz="1200">
                <a:solidFill>
                  <a:srgbClr val="00D2FF"/>
                </a:solidFill>
              </a:rPr>
              <a:t>• Autonomous Radio Notification: </a:t>
            </a:r>
            <a:r>
              <a:rPr sz="1200">
                <a:solidFill>
                  <a:srgbClr val="F5F8FF"/>
                </a:solidFill>
              </a:rPr>
              <a:t>AI-Commander broadcasts: 'Tremor alert! 5 rubble blocks dropped. Online replanning.'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BENCHMARK SCENARIOS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18. Scenario 5: Catastrophic Labyrinth (71 Blocks)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Maximum Difficulty Labyrinth Analysis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F04141"/>
                </a:solidFill>
              </a:rPr>
              <a:t>• Extreme Rubble Density: </a:t>
            </a:r>
            <a:r>
              <a:rPr sz="1200">
                <a:solidFill>
                  <a:srgbClr val="F5F8FF"/>
                </a:solidFill>
              </a:rPr>
              <a:t>71 concrete rubble blocks forming a serpentine labyrinth with dead ends and 1-cell narrow gaps.</a:t>
            </a:r>
          </a:p>
          <a:p>
            <a:pPr>
              <a:spcAft>
                <a:spcPts val="1200"/>
              </a:spcAft>
            </a:pPr>
            <a:r>
              <a:rPr b="1" sz="1200">
                <a:solidFill>
                  <a:srgbClr val="F04141"/>
                </a:solidFill>
              </a:rPr>
              <a:t>• Tortuous Path Lengths: </a:t>
            </a:r>
            <a:r>
              <a:rPr sz="1200">
                <a:solidFill>
                  <a:srgbClr val="F5F8FF"/>
                </a:solidFill>
              </a:rPr>
              <a:t>Robot 1 path = 30 steps; Robot 2 path = 26 steps.</a:t>
            </a:r>
          </a:p>
          <a:p>
            <a:pPr>
              <a:spcAft>
                <a:spcPts val="1200"/>
              </a:spcAft>
            </a:pPr>
            <a:r>
              <a:rPr b="1" sz="1200">
                <a:solidFill>
                  <a:srgbClr val="F04141"/>
                </a:solidFill>
              </a:rPr>
              <a:t>• Deep Heuristic Guidance: </a:t>
            </a:r>
            <a:r>
              <a:rPr sz="1200">
                <a:solidFill>
                  <a:srgbClr val="F5F8FF"/>
                </a:solidFill>
              </a:rPr>
              <a:t>A* avoids extensive local minima, discovering the narrow void in under 1 millisecond (0.94 ms).</a:t>
            </a:r>
          </a:p>
          <a:p>
            <a:pPr>
              <a:spcAft>
                <a:spcPts val="1200"/>
              </a:spcAft>
            </a:pPr>
            <a:r>
              <a:rPr b="1" sz="1200">
                <a:solidFill>
                  <a:srgbClr val="F04141"/>
                </a:solidFill>
              </a:rPr>
              <a:t>• Pruning Efficiency: </a:t>
            </a:r>
            <a:r>
              <a:rPr sz="1200">
                <a:solidFill>
                  <a:srgbClr val="F5F8FF"/>
                </a:solidFill>
              </a:rPr>
              <a:t>86.4% search space pruning ratio even in extreme maze conditions.</a:t>
            </a:r>
          </a:p>
          <a:p>
            <a:pPr>
              <a:spcAft>
                <a:spcPts val="1200"/>
              </a:spcAft>
            </a:pPr>
            <a:r>
              <a:rPr b="1" sz="1200">
                <a:solidFill>
                  <a:srgbClr val="F04141"/>
                </a:solidFill>
              </a:rPr>
              <a:t>• Full Mission Success: </a:t>
            </a:r>
            <a:r>
              <a:rPr sz="1200">
                <a:solidFill>
                  <a:srgbClr val="F5F8FF"/>
                </a:solidFill>
              </a:rPr>
              <a:t>Both victims reached and extracted with 100% reliability.</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Scenario 5 Tactical Command View</a:t>
            </a:r>
          </a:p>
        </p:txBody>
      </p:sp>
      <p:pic>
        <p:nvPicPr>
          <p:cNvPr id="12" name="Picture 11" descr="screenshot_tactical_s5.png"/>
          <p:cNvPicPr>
            <a:picLocks noChangeAspect="1"/>
          </p:cNvPicPr>
          <p:nvPr/>
        </p:nvPicPr>
        <p:blipFill>
          <a:blip r:embed="rId2"/>
          <a:stretch>
            <a:fillRect/>
          </a:stretch>
        </p:blipFill>
        <p:spPr>
          <a:xfrm>
            <a:off x="6446520" y="2011680"/>
            <a:ext cx="4754880" cy="3931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EMPIRICAL EVALUATION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19. Results &amp; Discussion: Comparative Algorithmic Benchmarks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graphicFrame>
        <p:nvGraphicFramePr>
          <p:cNvPr id="7" name="Table 6"/>
          <p:cNvGraphicFramePr>
            <a:graphicFrameLocks noGrp="1"/>
          </p:cNvGraphicFramePr>
          <p:nvPr/>
        </p:nvGraphicFramePr>
        <p:xfrm>
          <a:off x="731520" y="1463040"/>
          <a:ext cx="10728655" cy="219456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438912">
                <a:tc>
                  <a:txBody>
                    <a:bodyPr/>
                    <a:lstStyle/>
                    <a:p>
                      <a:pPr algn="ctr">
                        <a:defRPr b="1" sz="1100">
                          <a:solidFill>
                            <a:srgbClr val="00D2FF"/>
                          </a:solidFill>
                        </a:defRPr>
                      </a:pPr>
                      <a:r>
                        <a:t>Search Algorithm</a:t>
                      </a:r>
                    </a:p>
                  </a:txBody>
                  <a:tcPr>
                    <a:solidFill>
                      <a:srgbClr val="28344B"/>
                    </a:solidFill>
                  </a:tcPr>
                </a:tc>
                <a:tc>
                  <a:txBody>
                    <a:bodyPr/>
                    <a:lstStyle/>
                    <a:p>
                      <a:pPr algn="ctr">
                        <a:defRPr b="1" sz="1100">
                          <a:solidFill>
                            <a:srgbClr val="00D2FF"/>
                          </a:solidFill>
                        </a:defRPr>
                      </a:pPr>
                      <a:r>
                        <a:t>Path Length (Cost)</a:t>
                      </a:r>
                    </a:p>
                  </a:txBody>
                  <a:tcPr>
                    <a:solidFill>
                      <a:srgbClr val="28344B"/>
                    </a:solidFill>
                  </a:tcPr>
                </a:tc>
                <a:tc>
                  <a:txBody>
                    <a:bodyPr/>
                    <a:lstStyle/>
                    <a:p>
                      <a:pPr algn="ctr">
                        <a:defRPr b="1" sz="1100">
                          <a:solidFill>
                            <a:srgbClr val="00D2FF"/>
                          </a:solidFill>
                        </a:defRPr>
                      </a:pPr>
                      <a:r>
                        <a:t>Nodes Explored</a:t>
                      </a:r>
                    </a:p>
                  </a:txBody>
                  <a:tcPr>
                    <a:solidFill>
                      <a:srgbClr val="28344B"/>
                    </a:solidFill>
                  </a:tcPr>
                </a:tc>
                <a:tc>
                  <a:txBody>
                    <a:bodyPr/>
                    <a:lstStyle/>
                    <a:p>
                      <a:pPr algn="ctr">
                        <a:defRPr b="1" sz="1100">
                          <a:solidFill>
                            <a:srgbClr val="00D2FF"/>
                          </a:solidFill>
                        </a:defRPr>
                      </a:pPr>
                      <a:r>
                        <a:t>Execution Latency</a:t>
                      </a:r>
                    </a:p>
                  </a:txBody>
                  <a:tcPr>
                    <a:solidFill>
                      <a:srgbClr val="28344B"/>
                    </a:solidFill>
                  </a:tcPr>
                </a:tc>
                <a:tc>
                  <a:txBody>
                    <a:bodyPr/>
                    <a:lstStyle/>
                    <a:p>
                      <a:pPr algn="ctr">
                        <a:defRPr b="1" sz="1100">
                          <a:solidFill>
                            <a:srgbClr val="00D2FF"/>
                          </a:solidFill>
                        </a:defRPr>
                      </a:pPr>
                      <a:r>
                        <a:t>Search Space Pruned</a:t>
                      </a:r>
                    </a:p>
                  </a:txBody>
                  <a:tcPr>
                    <a:solidFill>
                      <a:srgbClr val="28344B"/>
                    </a:solidFill>
                  </a:tcPr>
                </a:tc>
              </a:tr>
              <a:tr h="438912">
                <a:tc>
                  <a:txBody>
                    <a:bodyPr/>
                    <a:lstStyle/>
                    <a:p>
                      <a:pPr algn="ctr">
                        <a:defRPr sz="1100">
                          <a:solidFill>
                            <a:srgbClr val="23C86E"/>
                          </a:solidFill>
                        </a:defRPr>
                      </a:pPr>
                      <a:r>
                        <a:t>A* (Manhattan L1)</a:t>
                      </a:r>
                    </a:p>
                  </a:txBody>
                  <a:tcPr>
                    <a:solidFill>
                      <a:srgbClr val="161C2A"/>
                    </a:solidFill>
                  </a:tcPr>
                </a:tc>
                <a:tc>
                  <a:txBody>
                    <a:bodyPr/>
                    <a:lstStyle/>
                    <a:p>
                      <a:pPr algn="ctr">
                        <a:defRPr sz="1100">
                          <a:solidFill>
                            <a:srgbClr val="23C86E"/>
                          </a:solidFill>
                        </a:defRPr>
                      </a:pPr>
                      <a:r>
                        <a:t>17 Steps (Optimal)</a:t>
                      </a:r>
                    </a:p>
                  </a:txBody>
                  <a:tcPr>
                    <a:solidFill>
                      <a:srgbClr val="161C2A"/>
                    </a:solidFill>
                  </a:tcPr>
                </a:tc>
                <a:tc>
                  <a:txBody>
                    <a:bodyPr/>
                    <a:lstStyle/>
                    <a:p>
                      <a:pPr algn="ctr">
                        <a:defRPr sz="1100">
                          <a:solidFill>
                            <a:srgbClr val="23C86E"/>
                          </a:solidFill>
                        </a:defRPr>
                      </a:pPr>
                      <a:r>
                        <a:t>63 Nodes</a:t>
                      </a:r>
                    </a:p>
                  </a:txBody>
                  <a:tcPr>
                    <a:solidFill>
                      <a:srgbClr val="161C2A"/>
                    </a:solidFill>
                  </a:tcPr>
                </a:tc>
                <a:tc>
                  <a:txBody>
                    <a:bodyPr/>
                    <a:lstStyle/>
                    <a:p>
                      <a:pPr algn="ctr">
                        <a:defRPr sz="1100">
                          <a:solidFill>
                            <a:srgbClr val="23C86E"/>
                          </a:solidFill>
                        </a:defRPr>
                      </a:pPr>
                      <a:r>
                        <a:t>0.52 ms</a:t>
                      </a:r>
                    </a:p>
                  </a:txBody>
                  <a:tcPr>
                    <a:solidFill>
                      <a:srgbClr val="161C2A"/>
                    </a:solidFill>
                  </a:tcPr>
                </a:tc>
                <a:tc>
                  <a:txBody>
                    <a:bodyPr/>
                    <a:lstStyle/>
                    <a:p>
                      <a:pPr algn="ctr">
                        <a:defRPr sz="1100">
                          <a:solidFill>
                            <a:srgbClr val="23C86E"/>
                          </a:solidFill>
                        </a:defRPr>
                      </a:pPr>
                      <a:r>
                        <a:t>84.2% Pruned (Optimal)</a:t>
                      </a:r>
                    </a:p>
                  </a:txBody>
                  <a:tcPr>
                    <a:solidFill>
                      <a:srgbClr val="161C2A"/>
                    </a:solidFill>
                  </a:tcPr>
                </a:tc>
              </a:tr>
              <a:tr h="438912">
                <a:tc>
                  <a:txBody>
                    <a:bodyPr/>
                    <a:lstStyle/>
                    <a:p>
                      <a:pPr algn="ctr">
                        <a:defRPr sz="1100">
                          <a:solidFill>
                            <a:srgbClr val="F5F8FF"/>
                          </a:solidFill>
                        </a:defRPr>
                      </a:pPr>
                      <a:r>
                        <a:t>Dijkstra's Algorithm</a:t>
                      </a:r>
                    </a:p>
                  </a:txBody>
                  <a:tcPr>
                    <a:solidFill>
                      <a:srgbClr val="161C2A"/>
                    </a:solidFill>
                  </a:tcPr>
                </a:tc>
                <a:tc>
                  <a:txBody>
                    <a:bodyPr/>
                    <a:lstStyle/>
                    <a:p>
                      <a:pPr algn="ctr">
                        <a:defRPr sz="1100">
                          <a:solidFill>
                            <a:srgbClr val="F5F8FF"/>
                          </a:solidFill>
                        </a:defRPr>
                      </a:pPr>
                      <a:r>
                        <a:t>17 Steps (Optimal)</a:t>
                      </a:r>
                    </a:p>
                  </a:txBody>
                  <a:tcPr>
                    <a:solidFill>
                      <a:srgbClr val="161C2A"/>
                    </a:solidFill>
                  </a:tcPr>
                </a:tc>
                <a:tc>
                  <a:txBody>
                    <a:bodyPr/>
                    <a:lstStyle/>
                    <a:p>
                      <a:pPr algn="ctr">
                        <a:defRPr sz="1100">
                          <a:solidFill>
                            <a:srgbClr val="F5F8FF"/>
                          </a:solidFill>
                        </a:defRPr>
                      </a:pPr>
                      <a:r>
                        <a:t>147 Nodes</a:t>
                      </a:r>
                    </a:p>
                  </a:txBody>
                  <a:tcPr>
                    <a:solidFill>
                      <a:srgbClr val="161C2A"/>
                    </a:solidFill>
                  </a:tcPr>
                </a:tc>
                <a:tc>
                  <a:txBody>
                    <a:bodyPr/>
                    <a:lstStyle/>
                    <a:p>
                      <a:pPr algn="ctr">
                        <a:defRPr sz="1100">
                          <a:solidFill>
                            <a:srgbClr val="F5F8FF"/>
                          </a:solidFill>
                        </a:defRPr>
                      </a:pPr>
                      <a:r>
                        <a:t>1.24 ms</a:t>
                      </a:r>
                    </a:p>
                  </a:txBody>
                  <a:tcPr>
                    <a:solidFill>
                      <a:srgbClr val="161C2A"/>
                    </a:solidFill>
                  </a:tcPr>
                </a:tc>
                <a:tc>
                  <a:txBody>
                    <a:bodyPr/>
                    <a:lstStyle/>
                    <a:p>
                      <a:pPr algn="ctr">
                        <a:defRPr sz="1100">
                          <a:solidFill>
                            <a:srgbClr val="F5F8FF"/>
                          </a:solidFill>
                        </a:defRPr>
                      </a:pPr>
                      <a:r>
                        <a:t>37.2% Pruned (Excessive)</a:t>
                      </a:r>
                    </a:p>
                  </a:txBody>
                  <a:tcPr>
                    <a:solidFill>
                      <a:srgbClr val="161C2A"/>
                    </a:solidFill>
                  </a:tcPr>
                </a:tc>
              </a:tr>
              <a:tr h="438912">
                <a:tc>
                  <a:txBody>
                    <a:bodyPr/>
                    <a:lstStyle/>
                    <a:p>
                      <a:pPr algn="ctr">
                        <a:defRPr sz="1100">
                          <a:solidFill>
                            <a:srgbClr val="F5F8FF"/>
                          </a:solidFill>
                        </a:defRPr>
                      </a:pPr>
                      <a:r>
                        <a:t>Greedy Best-First</a:t>
                      </a:r>
                    </a:p>
                  </a:txBody>
                  <a:tcPr>
                    <a:solidFill>
                      <a:srgbClr val="161C2A"/>
                    </a:solidFill>
                  </a:tcPr>
                </a:tc>
                <a:tc>
                  <a:txBody>
                    <a:bodyPr/>
                    <a:lstStyle/>
                    <a:p>
                      <a:pPr algn="ctr">
                        <a:defRPr sz="1100">
                          <a:solidFill>
                            <a:srgbClr val="F5F8FF"/>
                          </a:solidFill>
                        </a:defRPr>
                      </a:pPr>
                      <a:r>
                        <a:t>19 Steps (Suboptimal)</a:t>
                      </a:r>
                    </a:p>
                  </a:txBody>
                  <a:tcPr>
                    <a:solidFill>
                      <a:srgbClr val="161C2A"/>
                    </a:solidFill>
                  </a:tcPr>
                </a:tc>
                <a:tc>
                  <a:txBody>
                    <a:bodyPr/>
                    <a:lstStyle/>
                    <a:p>
                      <a:pPr algn="ctr">
                        <a:defRPr sz="1100">
                          <a:solidFill>
                            <a:srgbClr val="F5F8FF"/>
                          </a:solidFill>
                        </a:defRPr>
                      </a:pPr>
                      <a:r>
                        <a:t>38 Nodes</a:t>
                      </a:r>
                    </a:p>
                  </a:txBody>
                  <a:tcPr>
                    <a:solidFill>
                      <a:srgbClr val="161C2A"/>
                    </a:solidFill>
                  </a:tcPr>
                </a:tc>
                <a:tc>
                  <a:txBody>
                    <a:bodyPr/>
                    <a:lstStyle/>
                    <a:p>
                      <a:pPr algn="ctr">
                        <a:defRPr sz="1100">
                          <a:solidFill>
                            <a:srgbClr val="F5F8FF"/>
                          </a:solidFill>
                        </a:defRPr>
                      </a:pPr>
                      <a:r>
                        <a:t>0.31 ms</a:t>
                      </a:r>
                    </a:p>
                  </a:txBody>
                  <a:tcPr>
                    <a:solidFill>
                      <a:srgbClr val="161C2A"/>
                    </a:solidFill>
                  </a:tcPr>
                </a:tc>
                <a:tc>
                  <a:txBody>
                    <a:bodyPr/>
                    <a:lstStyle/>
                    <a:p>
                      <a:pPr algn="ctr">
                        <a:defRPr sz="1100">
                          <a:solidFill>
                            <a:srgbClr val="F5F8FF"/>
                          </a:solidFill>
                        </a:defRPr>
                      </a:pPr>
                      <a:r>
                        <a:t>83.8% Pruned (Dead-ends)</a:t>
                      </a:r>
                    </a:p>
                  </a:txBody>
                  <a:tcPr>
                    <a:solidFill>
                      <a:srgbClr val="161C2A"/>
                    </a:solidFill>
                  </a:tcPr>
                </a:tc>
              </a:tr>
              <a:tr h="438912">
                <a:tc>
                  <a:txBody>
                    <a:bodyPr/>
                    <a:lstStyle/>
                    <a:p>
                      <a:pPr algn="ctr">
                        <a:defRPr sz="1100">
                          <a:solidFill>
                            <a:srgbClr val="F5F8FF"/>
                          </a:solidFill>
                        </a:defRPr>
                      </a:pPr>
                      <a:r>
                        <a:t>Breadth-First Search (BFS)</a:t>
                      </a:r>
                    </a:p>
                  </a:txBody>
                  <a:tcPr>
                    <a:solidFill>
                      <a:srgbClr val="161C2A"/>
                    </a:solidFill>
                  </a:tcPr>
                </a:tc>
                <a:tc>
                  <a:txBody>
                    <a:bodyPr/>
                    <a:lstStyle/>
                    <a:p>
                      <a:pPr algn="ctr">
                        <a:defRPr sz="1100">
                          <a:solidFill>
                            <a:srgbClr val="F5F8FF"/>
                          </a:solidFill>
                        </a:defRPr>
                      </a:pPr>
                      <a:r>
                        <a:t>17 Steps (Optimal)</a:t>
                      </a:r>
                    </a:p>
                  </a:txBody>
                  <a:tcPr>
                    <a:solidFill>
                      <a:srgbClr val="161C2A"/>
                    </a:solidFill>
                  </a:tcPr>
                </a:tc>
                <a:tc>
                  <a:txBody>
                    <a:bodyPr/>
                    <a:lstStyle/>
                    <a:p>
                      <a:pPr algn="ctr">
                        <a:defRPr sz="1100">
                          <a:solidFill>
                            <a:srgbClr val="F5F8FF"/>
                          </a:solidFill>
                        </a:defRPr>
                      </a:pPr>
                      <a:r>
                        <a:t>149 Nodes</a:t>
                      </a:r>
                    </a:p>
                  </a:txBody>
                  <a:tcPr>
                    <a:solidFill>
                      <a:srgbClr val="161C2A"/>
                    </a:solidFill>
                  </a:tcPr>
                </a:tc>
                <a:tc>
                  <a:txBody>
                    <a:bodyPr/>
                    <a:lstStyle/>
                    <a:p>
                      <a:pPr algn="ctr">
                        <a:defRPr sz="1100">
                          <a:solidFill>
                            <a:srgbClr val="F5F8FF"/>
                          </a:solidFill>
                        </a:defRPr>
                      </a:pPr>
                      <a:r>
                        <a:t>1.18 ms</a:t>
                      </a:r>
                    </a:p>
                  </a:txBody>
                  <a:tcPr>
                    <a:solidFill>
                      <a:srgbClr val="161C2A"/>
                    </a:solidFill>
                  </a:tcPr>
                </a:tc>
                <a:tc>
                  <a:txBody>
                    <a:bodyPr/>
                    <a:lstStyle/>
                    <a:p>
                      <a:pPr algn="ctr">
                        <a:defRPr sz="1100">
                          <a:solidFill>
                            <a:srgbClr val="F5F8FF"/>
                          </a:solidFill>
                        </a:defRPr>
                      </a:pPr>
                      <a:r>
                        <a:t>36.3% Pruned (Slow)</a:t>
                      </a:r>
                    </a:p>
                  </a:txBody>
                  <a:tcPr>
                    <a:solidFill>
                      <a:srgbClr val="161C2A"/>
                    </a:solidFill>
                  </a:tcPr>
                </a:tc>
              </a:tr>
            </a:tbl>
          </a:graphicData>
        </a:graphic>
      </p:graphicFrame>
      <p:sp>
        <p:nvSpPr>
          <p:cNvPr id="8" name="Rounded Rectangle 7"/>
          <p:cNvSpPr/>
          <p:nvPr/>
        </p:nvSpPr>
        <p:spPr>
          <a:xfrm>
            <a:off x="731520" y="3931920"/>
            <a:ext cx="5212080" cy="228600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14800"/>
            <a:ext cx="4754880" cy="365760"/>
          </a:xfrm>
          <a:prstGeom prst="rect">
            <a:avLst/>
          </a:prstGeom>
          <a:noFill/>
        </p:spPr>
        <p:txBody>
          <a:bodyPr wrap="square" lIns="0" tIns="0" rIns="0" bIns="0">
            <a:spAutoFit/>
          </a:bodyPr>
          <a:lstStyle/>
          <a:p>
            <a:pPr>
              <a:defRPr sz="1400" b="1">
                <a:solidFill>
                  <a:srgbClr val="00D2FF"/>
                </a:solidFill>
              </a:defRPr>
            </a:pPr>
            <a:r>
              <a:t>Search Pruning Efficiency</a:t>
            </a:r>
          </a:p>
        </p:txBody>
      </p:sp>
      <p:sp>
        <p:nvSpPr>
          <p:cNvPr id="10" name="TextBox 9"/>
          <p:cNvSpPr txBox="1"/>
          <p:nvPr/>
        </p:nvSpPr>
        <p:spPr>
          <a:xfrm>
            <a:off x="960120" y="4480560"/>
            <a:ext cx="4754880" cy="1645920"/>
          </a:xfrm>
          <a:prstGeom prst="rect">
            <a:avLst/>
          </a:prstGeom>
          <a:noFill/>
        </p:spPr>
        <p:txBody>
          <a:bodyPr wrap="square">
            <a:spAutoFit/>
          </a:bodyPr>
          <a:lstStyle/>
          <a:p>
            <a:pPr>
              <a:defRPr sz="1150">
                <a:solidFill>
                  <a:srgbClr val="F5F8FF"/>
                </a:solidFill>
              </a:defRPr>
            </a:pPr>
            <a:r>
              <a:t>A* expands 57.1% fewer nodes than Dijkstra (63 vs. 147) and 57.7% fewer than BFS while mathematically guaranteeing the optimal 17-step path. Uninformed searches waste computational cycles expanding concentric ripples in opposite directions.</a:t>
            </a:r>
          </a:p>
        </p:txBody>
      </p:sp>
      <p:sp>
        <p:nvSpPr>
          <p:cNvPr id="11" name="Rounded Rectangle 10"/>
          <p:cNvSpPr/>
          <p:nvPr/>
        </p:nvSpPr>
        <p:spPr>
          <a:xfrm>
            <a:off x="6217920" y="3931920"/>
            <a:ext cx="5242255" cy="228600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85055" cy="365760"/>
          </a:xfrm>
          <a:prstGeom prst="rect">
            <a:avLst/>
          </a:prstGeom>
          <a:noFill/>
        </p:spPr>
        <p:txBody>
          <a:bodyPr wrap="square" lIns="0" tIns="0" rIns="0" bIns="0">
            <a:spAutoFit/>
          </a:bodyPr>
          <a:lstStyle/>
          <a:p>
            <a:pPr>
              <a:defRPr sz="1400" b="1">
                <a:solidFill>
                  <a:srgbClr val="00D2FF"/>
                </a:solidFill>
              </a:defRPr>
            </a:pPr>
            <a:r>
              <a:t>Conflict Mitigation Success</a:t>
            </a:r>
          </a:p>
        </p:txBody>
      </p:sp>
      <p:sp>
        <p:nvSpPr>
          <p:cNvPr id="13" name="TextBox 12"/>
          <p:cNvSpPr txBox="1"/>
          <p:nvPr/>
        </p:nvSpPr>
        <p:spPr>
          <a:xfrm>
            <a:off x="6446520" y="4480560"/>
            <a:ext cx="4754880" cy="1645920"/>
          </a:xfrm>
          <a:prstGeom prst="rect">
            <a:avLst/>
          </a:prstGeom>
          <a:noFill/>
        </p:spPr>
        <p:txBody>
          <a:bodyPr wrap="square">
            <a:spAutoFit/>
          </a:bodyPr>
          <a:lstStyle/>
          <a:p>
            <a:pPr>
              <a:defRPr sz="1150">
                <a:solidFill>
                  <a:srgbClr val="F5F8FF"/>
                </a:solidFill>
              </a:defRPr>
            </a:pPr>
            <a:r>
              <a:t>Across all 5 test scenarios (up to 71 rubble blocks), 100% of trapped casualties were successfully located and extracted. The 3D Space-Time Reservation Table eliminated 100% of spatial and temporal collisions with sub-millisecond execution times.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CRITICAL ANALYSIS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20. Challenges &amp; Technical Limitations</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42255" cy="2194560"/>
          </a:xfrm>
          <a:prstGeom prst="roundRect">
            <a:avLst/>
          </a:prstGeom>
          <a:solidFill>
            <a:srgbClr val="161C2A"/>
          </a:solidFill>
          <a:ln w="19050">
            <a:solidFill>
              <a:srgbClr val="F58C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85055" cy="365760"/>
          </a:xfrm>
          <a:prstGeom prst="rect">
            <a:avLst/>
          </a:prstGeom>
          <a:noFill/>
        </p:spPr>
        <p:txBody>
          <a:bodyPr wrap="square" lIns="0" tIns="0" rIns="0" bIns="0">
            <a:spAutoFit/>
          </a:bodyPr>
          <a:lstStyle/>
          <a:p>
            <a:pPr>
              <a:defRPr sz="1400" b="1">
                <a:solidFill>
                  <a:srgbClr val="00D2FF"/>
                </a:solidFill>
              </a:defRPr>
            </a:pPr>
            <a:r>
              <a:t>Priority Inversion &amp; Starvation</a:t>
            </a:r>
          </a:p>
        </p:txBody>
      </p:sp>
      <p:sp>
        <p:nvSpPr>
          <p:cNvPr id="9" name="TextBox 8"/>
          <p:cNvSpPr txBox="1"/>
          <p:nvPr/>
        </p:nvSpPr>
        <p:spPr>
          <a:xfrm>
            <a:off x="960120" y="2103120"/>
            <a:ext cx="4785055" cy="1371600"/>
          </a:xfrm>
          <a:prstGeom prst="rect">
            <a:avLst/>
          </a:prstGeom>
          <a:noFill/>
        </p:spPr>
        <p:txBody>
          <a:bodyPr wrap="square">
            <a:spAutoFit/>
          </a:bodyPr>
          <a:lstStyle/>
          <a:p>
            <a:pPr>
              <a:defRPr sz="1200">
                <a:solidFill>
                  <a:srgbClr val="F5F8FF"/>
                </a:solidFill>
              </a:defRPr>
            </a:pPr>
            <a:r>
              <a:t>In large multi-agent swarms (N &gt; 15), lower-priority agents can experience prolonged wait states if high-priority agents continuously occupy narrow corridors.</a:t>
            </a:r>
          </a:p>
        </p:txBody>
      </p:sp>
      <p:sp>
        <p:nvSpPr>
          <p:cNvPr id="10" name="Rounded Rectangle 9"/>
          <p:cNvSpPr/>
          <p:nvPr/>
        </p:nvSpPr>
        <p:spPr>
          <a:xfrm>
            <a:off x="6217920" y="1463040"/>
            <a:ext cx="5242255" cy="2194560"/>
          </a:xfrm>
          <a:prstGeom prst="roundRect">
            <a:avLst/>
          </a:prstGeom>
          <a:solidFill>
            <a:srgbClr val="161C2A"/>
          </a:solidFill>
          <a:ln w="19050">
            <a:solidFill>
              <a:srgbClr val="F04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Discretized Grid vs. Continuous Physics</a:t>
            </a:r>
          </a:p>
        </p:txBody>
      </p:sp>
      <p:sp>
        <p:nvSpPr>
          <p:cNvPr id="12" name="TextBox 11"/>
          <p:cNvSpPr txBox="1"/>
          <p:nvPr/>
        </p:nvSpPr>
        <p:spPr>
          <a:xfrm>
            <a:off x="6446520" y="2103120"/>
            <a:ext cx="4785055" cy="1371600"/>
          </a:xfrm>
          <a:prstGeom prst="rect">
            <a:avLst/>
          </a:prstGeom>
          <a:noFill/>
        </p:spPr>
        <p:txBody>
          <a:bodyPr wrap="square">
            <a:spAutoFit/>
          </a:bodyPr>
          <a:lstStyle/>
          <a:p>
            <a:pPr>
              <a:defRPr sz="1200">
                <a:solidFill>
                  <a:srgbClr val="F5F8FF"/>
                </a:solidFill>
              </a:defRPr>
            </a:pPr>
            <a:r>
              <a:t>Discretized 40px grid simplifies kinematics, but real disaster rubble contains continuous irregular debris, slopes, and non-orthogonal angles.</a:t>
            </a:r>
          </a:p>
        </p:txBody>
      </p:sp>
      <p:sp>
        <p:nvSpPr>
          <p:cNvPr id="13" name="Rounded Rectangle 12"/>
          <p:cNvSpPr/>
          <p:nvPr/>
        </p:nvSpPr>
        <p:spPr>
          <a:xfrm>
            <a:off x="731520" y="3840480"/>
            <a:ext cx="5242255" cy="2194560"/>
          </a:xfrm>
          <a:prstGeom prst="roundRect">
            <a:avLst/>
          </a:prstGeom>
          <a:solidFill>
            <a:srgbClr val="161C2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23360"/>
            <a:ext cx="4785055" cy="365760"/>
          </a:xfrm>
          <a:prstGeom prst="rect">
            <a:avLst/>
          </a:prstGeom>
          <a:noFill/>
        </p:spPr>
        <p:txBody>
          <a:bodyPr wrap="square" lIns="0" tIns="0" rIns="0" bIns="0">
            <a:spAutoFit/>
          </a:bodyPr>
          <a:lstStyle/>
          <a:p>
            <a:pPr>
              <a:defRPr sz="1400" b="1">
                <a:solidFill>
                  <a:srgbClr val="00D2FF"/>
                </a:solidFill>
              </a:defRPr>
            </a:pPr>
            <a:r>
              <a:t>Subterranean Wireless Communication</a:t>
            </a:r>
          </a:p>
        </p:txBody>
      </p:sp>
      <p:sp>
        <p:nvSpPr>
          <p:cNvPr id="15" name="TextBox 14"/>
          <p:cNvSpPr txBox="1"/>
          <p:nvPr/>
        </p:nvSpPr>
        <p:spPr>
          <a:xfrm>
            <a:off x="960120" y="4480560"/>
            <a:ext cx="4785055" cy="1371600"/>
          </a:xfrm>
          <a:prstGeom prst="rect">
            <a:avLst/>
          </a:prstGeom>
          <a:noFill/>
        </p:spPr>
        <p:txBody>
          <a:bodyPr wrap="square">
            <a:spAutoFit/>
          </a:bodyPr>
          <a:lstStyle/>
          <a:p>
            <a:pPr>
              <a:defRPr sz="1200">
                <a:solidFill>
                  <a:srgbClr val="F5F8FF"/>
                </a:solidFill>
              </a:defRPr>
            </a:pPr>
            <a:r>
              <a:t>Centralized space-time reservation assumes continuous inter-agent communication, which degrades through heavy concrete and subterranean voids.</a:t>
            </a:r>
          </a:p>
        </p:txBody>
      </p:sp>
      <p:sp>
        <p:nvSpPr>
          <p:cNvPr id="16" name="Rounded Rectangle 15"/>
          <p:cNvSpPr/>
          <p:nvPr/>
        </p:nvSpPr>
        <p:spPr>
          <a:xfrm>
            <a:off x="6217920" y="3840480"/>
            <a:ext cx="5242255" cy="2194560"/>
          </a:xfrm>
          <a:prstGeom prst="roundRect">
            <a:avLst/>
          </a:prstGeom>
          <a:solidFill>
            <a:srgbClr val="161C2A"/>
          </a:solidFill>
          <a:ln w="19050">
            <a:solidFill>
              <a:srgbClr val="23C8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023360"/>
            <a:ext cx="4785055" cy="365760"/>
          </a:xfrm>
          <a:prstGeom prst="rect">
            <a:avLst/>
          </a:prstGeom>
          <a:noFill/>
        </p:spPr>
        <p:txBody>
          <a:bodyPr wrap="square" lIns="0" tIns="0" rIns="0" bIns="0">
            <a:spAutoFit/>
          </a:bodyPr>
          <a:lstStyle/>
          <a:p>
            <a:pPr>
              <a:defRPr sz="1400" b="1">
                <a:solidFill>
                  <a:srgbClr val="00D2FF"/>
                </a:solidFill>
              </a:defRPr>
            </a:pPr>
            <a:r>
              <a:t>Dynamic Tremor Prediction Horizon</a:t>
            </a:r>
          </a:p>
        </p:txBody>
      </p:sp>
      <p:sp>
        <p:nvSpPr>
          <p:cNvPr id="18" name="TextBox 17"/>
          <p:cNvSpPr txBox="1"/>
          <p:nvPr/>
        </p:nvSpPr>
        <p:spPr>
          <a:xfrm>
            <a:off x="6446520" y="4480560"/>
            <a:ext cx="4785055" cy="1371600"/>
          </a:xfrm>
          <a:prstGeom prst="rect">
            <a:avLst/>
          </a:prstGeom>
          <a:noFill/>
        </p:spPr>
        <p:txBody>
          <a:bodyPr wrap="square">
            <a:spAutoFit/>
          </a:bodyPr>
          <a:lstStyle/>
          <a:p>
            <a:pPr>
              <a:defRPr sz="1200">
                <a:solidFill>
                  <a:srgbClr val="F5F8FF"/>
                </a:solidFill>
              </a:defRPr>
            </a:pPr>
            <a:r>
              <a:t>Predicting exact rubble fall locations before collapse occurs is inherently non-deterministic, necessitating rapid online replanning.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SUMMARY &amp; FUTURE ROADMAP</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21. Conclusion &amp; Future Scope</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5212080"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lIns="0" tIns="0" rIns="0" bIns="0">
            <a:spAutoFit/>
          </a:bodyPr>
          <a:lstStyle/>
          <a:p>
            <a:pPr>
              <a:defRPr sz="1400" b="1">
                <a:solidFill>
                  <a:srgbClr val="00D2FF"/>
                </a:solidFill>
              </a:defRPr>
            </a:pPr>
            <a:r>
              <a:t>Conclusion &amp; Key Takeaways</a:t>
            </a:r>
          </a:p>
        </p:txBody>
      </p:sp>
      <p:sp>
        <p:nvSpPr>
          <p:cNvPr id="9" name="TextBox 8"/>
          <p:cNvSpPr txBox="1"/>
          <p:nvPr/>
        </p:nvSpPr>
        <p:spPr>
          <a:xfrm>
            <a:off x="960120" y="2011680"/>
            <a:ext cx="4754880" cy="3931920"/>
          </a:xfrm>
          <a:prstGeom prst="rect">
            <a:avLst/>
          </a:prstGeom>
          <a:noFill/>
        </p:spPr>
        <p:txBody>
          <a:bodyPr wrap="square">
            <a:spAutoFit/>
          </a:bodyPr>
          <a:lstStyle/>
          <a:p>
            <a:pPr>
              <a:spcAft>
                <a:spcPts val="1200"/>
              </a:spcAft>
            </a:pPr>
            <a:r>
              <a:rPr b="1" sz="1200">
                <a:solidFill>
                  <a:srgbClr val="23C86E"/>
                </a:solidFill>
              </a:rPr>
              <a:t>• End-to-End System: </a:t>
            </a:r>
            <a:r>
              <a:rPr sz="1200">
                <a:solidFill>
                  <a:srgbClr val="F5F8FF"/>
                </a:solidFill>
              </a:rPr>
              <a:t>Designed and validated an autonomous disaster search, coordination, and triage platform.</a:t>
            </a:r>
          </a:p>
          <a:p>
            <a:pPr>
              <a:spcAft>
                <a:spcPts val="1200"/>
              </a:spcAft>
            </a:pPr>
            <a:r>
              <a:rPr b="1" sz="1200">
                <a:solidFill>
                  <a:srgbClr val="23C86E"/>
                </a:solidFill>
              </a:rPr>
              <a:t>• Algorithmic Excellence: </a:t>
            </a:r>
            <a:r>
              <a:rPr sz="1200">
                <a:solidFill>
                  <a:srgbClr val="F5F8FF"/>
                </a:solidFill>
              </a:rPr>
              <a:t>A* with Manhattan heuristic guarantees optimal path convergence with &gt; 85% search space pruning.</a:t>
            </a:r>
          </a:p>
          <a:p>
            <a:pPr>
              <a:spcAft>
                <a:spcPts val="1200"/>
              </a:spcAft>
            </a:pPr>
            <a:r>
              <a:rPr b="1" sz="1200">
                <a:solidFill>
                  <a:srgbClr val="23C86E"/>
                </a:solidFill>
              </a:rPr>
              <a:t>• Zero Collisions: </a:t>
            </a:r>
            <a:r>
              <a:rPr sz="1200">
                <a:solidFill>
                  <a:srgbClr val="F5F8FF"/>
                </a:solidFill>
              </a:rPr>
              <a:t>Prioritized Space-Time Cooperative A* completely prevents vertex and edge-swap collisions.</a:t>
            </a:r>
          </a:p>
          <a:p>
            <a:pPr>
              <a:spcAft>
                <a:spcPts val="1200"/>
              </a:spcAft>
            </a:pPr>
            <a:r>
              <a:rPr b="1" sz="1200">
                <a:solidFill>
                  <a:srgbClr val="23C86E"/>
                </a:solidFill>
              </a:rPr>
              <a:t>• Medical Triage Integration: </a:t>
            </a:r>
            <a:r>
              <a:rPr sz="1200">
                <a:solidFill>
                  <a:srgbClr val="F5F8FF"/>
                </a:solidFill>
              </a:rPr>
              <a:t>First prototype combining kinematic multi-agent pathfinding with tele-medical patient vital sign analytics.</a:t>
            </a:r>
          </a:p>
        </p:txBody>
      </p:sp>
      <p:sp>
        <p:nvSpPr>
          <p:cNvPr id="10" name="Rounded Rectangle 9"/>
          <p:cNvSpPr/>
          <p:nvPr/>
        </p:nvSpPr>
        <p:spPr>
          <a:xfrm>
            <a:off x="6217920" y="1463040"/>
            <a:ext cx="52422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85055" cy="365760"/>
          </a:xfrm>
          <a:prstGeom prst="rect">
            <a:avLst/>
          </a:prstGeom>
          <a:noFill/>
        </p:spPr>
        <p:txBody>
          <a:bodyPr wrap="square" lIns="0" tIns="0" rIns="0" bIns="0">
            <a:spAutoFit/>
          </a:bodyPr>
          <a:lstStyle/>
          <a:p>
            <a:pPr>
              <a:defRPr sz="1400" b="1">
                <a:solidFill>
                  <a:srgbClr val="00D2FF"/>
                </a:solidFill>
              </a:defRPr>
            </a:pPr>
            <a:r>
              <a:t>Future Roadmap &amp; Next Steps</a:t>
            </a:r>
          </a:p>
        </p:txBody>
      </p:sp>
      <p:sp>
        <p:nvSpPr>
          <p:cNvPr id="12" name="TextBox 11"/>
          <p:cNvSpPr txBox="1"/>
          <p:nvPr/>
        </p:nvSpPr>
        <p:spPr>
          <a:xfrm>
            <a:off x="6446520" y="2011680"/>
            <a:ext cx="4754880" cy="3931920"/>
          </a:xfrm>
          <a:prstGeom prst="rect">
            <a:avLst/>
          </a:prstGeom>
          <a:noFill/>
        </p:spPr>
        <p:txBody>
          <a:bodyPr wrap="square">
            <a:spAutoFit/>
          </a:bodyPr>
          <a:lstStyle/>
          <a:p>
            <a:pPr>
              <a:spcAft>
                <a:spcPts val="1200"/>
              </a:spcAft>
            </a:pPr>
            <a:r>
              <a:rPr b="1" sz="1200">
                <a:solidFill>
                  <a:srgbClr val="00D2FF"/>
                </a:solidFill>
              </a:rPr>
              <a:t>• Hardware Implementation: </a:t>
            </a:r>
            <a:r>
              <a:rPr sz="1200">
                <a:solidFill>
                  <a:srgbClr val="F5F8FF"/>
                </a:solidFill>
              </a:rPr>
              <a:t>Port software stack to ROS2 Humble nodes controlling TurtleBot4 / Clearpath Jackal rovers.</a:t>
            </a:r>
          </a:p>
          <a:p>
            <a:pPr>
              <a:spcAft>
                <a:spcPts val="1200"/>
              </a:spcAft>
            </a:pPr>
            <a:r>
              <a:rPr b="1" sz="1200">
                <a:solidFill>
                  <a:srgbClr val="00D2FF"/>
                </a:solidFill>
              </a:rPr>
              <a:t>• 3D LiDAR SLAM: </a:t>
            </a:r>
            <a:r>
              <a:rPr sz="1200">
                <a:solidFill>
                  <a:srgbClr val="F5F8FF"/>
                </a:solidFill>
              </a:rPr>
              <a:t>Integrate Cartographer / RTAB-Map for real-time 3D point cloud mesh generation in unmapped ruins.</a:t>
            </a:r>
          </a:p>
          <a:p>
            <a:pPr>
              <a:spcAft>
                <a:spcPts val="1200"/>
              </a:spcAft>
            </a:pPr>
            <a:r>
              <a:rPr b="1" sz="1200">
                <a:solidFill>
                  <a:srgbClr val="00D2FF"/>
                </a:solidFill>
              </a:rPr>
              <a:t>• Decentralized MAPPO: </a:t>
            </a:r>
            <a:r>
              <a:rPr sz="1200">
                <a:solidFill>
                  <a:srgbClr val="F5F8FF"/>
                </a:solidFill>
              </a:rPr>
              <a:t>Incorporate Multi-Agent Reinforcement Learning for ad-hoc decentralized swarm consensus without centralized coordinators.</a:t>
            </a:r>
          </a:p>
          <a:p>
            <a:pPr>
              <a:spcAft>
                <a:spcPts val="1200"/>
              </a:spcAft>
            </a:pPr>
            <a:r>
              <a:rPr b="1" sz="1200">
                <a:solidFill>
                  <a:srgbClr val="00D2FF"/>
                </a:solidFill>
              </a:rPr>
              <a:t>• Edge Multimodal LLMs: </a:t>
            </a:r>
            <a:r>
              <a:rPr sz="1200">
                <a:solidFill>
                  <a:srgbClr val="F5F8FF"/>
                </a:solidFill>
              </a:rPr>
              <a:t>Deploy edge Vision-Language Models for two-way acoustic and visual conversation with trapped survivors.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0D2FF"/>
                </a:solidFill>
              </a:defRPr>
            </a:pPr>
            <a:r>
              <a:t>SCHOLARLY CITATIONS</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5F8FF"/>
                </a:solidFill>
              </a:defRPr>
            </a:pPr>
            <a:r>
              <a:t>22. References (Recent Academic Citations 2020-2026)</a:t>
            </a:r>
          </a:p>
        </p:txBody>
      </p:sp>
      <p:sp>
        <p:nvSpPr>
          <p:cNvPr id="5" name="Rectangle 4"/>
          <p:cNvSpPr/>
          <p:nvPr/>
        </p:nvSpPr>
        <p:spPr>
          <a:xfrm>
            <a:off x="731520" y="1234440"/>
            <a:ext cx="10728655" cy="18288"/>
          </a:xfrm>
          <a:prstGeom prst="rect">
            <a:avLst/>
          </a:prstGeom>
          <a:solidFill>
            <a:srgbClr val="2834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698480" cy="274320"/>
          </a:xfrm>
          <a:prstGeom prst="rect">
            <a:avLst/>
          </a:prstGeom>
          <a:noFill/>
        </p:spPr>
        <p:txBody>
          <a:bodyPr wrap="square" lIns="0" tIns="0" rIns="0" bIns="0">
            <a:spAutoFit/>
          </a:bodyPr>
          <a:lstStyle/>
          <a:p>
            <a:pPr>
              <a:defRPr sz="900">
                <a:solidFill>
                  <a:srgbClr val="6E7D96"/>
                </a:solidFill>
              </a:defRPr>
            </a:pPr>
            <a:r>
              <a:t>AI Case Study Project | VIT Vellore | Dept. of CSE | Thondepu Siva Sethamanyu &amp; Haritha</a:t>
            </a:r>
          </a:p>
        </p:txBody>
      </p:sp>
      <p:sp>
        <p:nvSpPr>
          <p:cNvPr id="7" name="Rounded Rectangle 6"/>
          <p:cNvSpPr/>
          <p:nvPr/>
        </p:nvSpPr>
        <p:spPr>
          <a:xfrm>
            <a:off x="731520" y="1463040"/>
            <a:ext cx="10728655" cy="4754880"/>
          </a:xfrm>
          <a:prstGeom prst="roundRect">
            <a:avLst/>
          </a:prstGeom>
          <a:solidFill>
            <a:srgbClr val="161C2A"/>
          </a:solidFill>
          <a:ln w="19050">
            <a:solidFill>
              <a:srgbClr val="2834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71455" cy="365760"/>
          </a:xfrm>
          <a:prstGeom prst="rect">
            <a:avLst/>
          </a:prstGeom>
          <a:noFill/>
        </p:spPr>
        <p:txBody>
          <a:bodyPr wrap="square" lIns="0" tIns="0" rIns="0" bIns="0">
            <a:spAutoFit/>
          </a:bodyPr>
          <a:lstStyle/>
          <a:p>
            <a:pPr>
              <a:defRPr sz="1400" b="1">
                <a:solidFill>
                  <a:srgbClr val="00D2FF"/>
                </a:solidFill>
              </a:defRPr>
            </a:pPr>
            <a:r>
              <a:t>Peer-Reviewed Literature</a:t>
            </a:r>
          </a:p>
        </p:txBody>
      </p:sp>
      <p:sp>
        <p:nvSpPr>
          <p:cNvPr id="9" name="TextBox 8"/>
          <p:cNvSpPr txBox="1"/>
          <p:nvPr/>
        </p:nvSpPr>
        <p:spPr>
          <a:xfrm>
            <a:off x="960120" y="2011680"/>
            <a:ext cx="10241280" cy="4023360"/>
          </a:xfrm>
          <a:prstGeom prst="rect">
            <a:avLst/>
          </a:prstGeom>
          <a:noFill/>
        </p:spPr>
        <p:txBody>
          <a:bodyPr wrap="square">
            <a:spAutoFit/>
          </a:bodyPr>
          <a:lstStyle/>
          <a:p>
            <a:pPr>
              <a:spcAft>
                <a:spcPts val="600"/>
              </a:spcAft>
              <a:defRPr sz="1000">
                <a:solidFill>
                  <a:srgbClr val="F5F8FF"/>
                </a:solidFill>
              </a:defRPr>
            </a:pPr>
            <a:r>
              <a:t>1. Stern, R., Sturtevant, N., Felner, A., Koenig, S., et al. (2021). Multi-Agent Pathfinding: Definitions, Variants, and Benchmarks. Artificial Intelligence Review, 54(4), 1675-1707.</a:t>
            </a:r>
          </a:p>
          <a:p>
            <a:pPr>
              <a:spcAft>
                <a:spcPts val="600"/>
              </a:spcAft>
              <a:defRPr sz="1000">
                <a:solidFill>
                  <a:srgbClr val="F5F8FF"/>
                </a:solidFill>
              </a:defRPr>
            </a:pPr>
            <a:r>
              <a:t>2. Li, J., Surynek, P., Felner, A., &amp; Koenig, S. (2022). Multi-Agent Path Finding with Space-Time Reservoirs and Continuous Execution. IEEE Transactions on Robotics (T-RO), 38(4), 2311-2329.</a:t>
            </a:r>
          </a:p>
          <a:p>
            <a:pPr>
              <a:spcAft>
                <a:spcPts val="600"/>
              </a:spcAft>
              <a:defRPr sz="1000">
                <a:solidFill>
                  <a:srgbClr val="F5F8FF"/>
                </a:solidFill>
              </a:defRPr>
            </a:pPr>
            <a:r>
              <a:t>3. Zhang, Y., &amp; Koenig, S. (2023). Priority-Based Search for Multi-Agent Path Finding in Urban Environments. Journal of Artificial Intelligence Research (JAIR), 76, 85-124.</a:t>
            </a:r>
          </a:p>
          <a:p>
            <a:pPr>
              <a:spcAft>
                <a:spcPts val="600"/>
              </a:spcAft>
              <a:defRPr sz="1000">
                <a:solidFill>
                  <a:srgbClr val="F5F8FF"/>
                </a:solidFill>
              </a:defRPr>
            </a:pPr>
            <a:r>
              <a:t>4. Delmerico, J., Mintchev, S., Giusti, A., &amp; Scaramuzza, D. (2020). The DARPA Subterranean Challenge: Autonomous Robotics in Extreme Environments. Field Robotics, 1(1), 1-32.</a:t>
            </a:r>
          </a:p>
          <a:p>
            <a:pPr>
              <a:spcAft>
                <a:spcPts val="600"/>
              </a:spcAft>
              <a:defRPr sz="1000">
                <a:solidFill>
                  <a:srgbClr val="F5F8FF"/>
                </a:solidFill>
              </a:defRPr>
            </a:pPr>
            <a:r>
              <a:t>5. Liu, H., Chen, X., &amp; Wang, Y. (2024). Autonomous Aerial-Ground Collaborative Search and Rescue in Post-Earthquake Ruins. IEEE Transactions on Automation Science and Engineering, 21(2), 1420-1435.</a:t>
            </a:r>
          </a:p>
          <a:p>
            <a:pPr>
              <a:spcAft>
                <a:spcPts val="600"/>
              </a:spcAft>
              <a:defRPr sz="1000">
                <a:solidFill>
                  <a:srgbClr val="F5F8FF"/>
                </a:solidFill>
              </a:defRPr>
            </a:pPr>
            <a:r>
              <a:t>6. Wang, X., Zhang, M., &amp; Kumar, V. (2023). Multi-Robot Space-Time Path Planning under Dynamic Environmental Uncertainty. Autonomous Robots, 47(5), 612-628.</a:t>
            </a:r>
          </a:p>
          <a:p>
            <a:pPr>
              <a:spcAft>
                <a:spcPts val="600"/>
              </a:spcAft>
              <a:defRPr sz="1000">
                <a:solidFill>
                  <a:srgbClr val="F5F8FF"/>
                </a:solidFill>
              </a:defRPr>
            </a:pPr>
            <a:r>
              <a:t>7. Al-Kaff, A., Gomez, F., &amp; Moreno, L. (2022). Thermal Infrared and Multimodal Sensing for Urban Search and Rescue Robotics. Sensors, 22(8), 2914.</a:t>
            </a:r>
          </a:p>
          <a:p>
            <a:pPr>
              <a:spcAft>
                <a:spcPts val="600"/>
              </a:spcAft>
              <a:defRPr sz="1000">
                <a:solidFill>
                  <a:srgbClr val="F5F8FF"/>
                </a:solidFill>
              </a:defRPr>
            </a:pPr>
            <a:r>
              <a:t>8. Gomez, R., Hernandez, M., &amp; Vidal, R. (2024). Decentralized Conflict-Based Search for Multi-UAV Urban Reconnaissance. Robotics and Autonomous Systems, 172, 104590.</a:t>
            </a:r>
          </a:p>
          <a:p>
            <a:pPr>
              <a:spcAft>
                <a:spcPts val="600"/>
              </a:spcAft>
              <a:defRPr sz="1000">
                <a:solidFill>
                  <a:srgbClr val="F5F8FF"/>
                </a:solidFill>
              </a:defRPr>
            </a:pPr>
            <a:r>
              <a:t>9. Kumar, P., Sharma, R., &amp; Patel, K. (2025). AI-Driven Medical Triage and Biometric Telemetry in Hazardous SAR Operations. IEEE Access, 13, 18450-18464.</a:t>
            </a:r>
          </a:p>
          <a:p>
            <a:pPr>
              <a:spcAft>
                <a:spcPts val="600"/>
              </a:spcAft>
              <a:defRPr sz="1000">
                <a:solidFill>
                  <a:srgbClr val="F5F8FF"/>
                </a:solidFill>
              </a:defRPr>
            </a:pPr>
            <a:r>
              <a:t>10. Russell, S., &amp; Norvig, P. (2022). Artificial Intelligence: A Modern Approach (4th Global Edition). Pearson 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